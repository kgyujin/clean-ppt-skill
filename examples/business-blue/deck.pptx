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clean-notes-notesMaster1.xml.rels-theme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1pPr>
    <a:lvl2pPr marL="4572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2pPr>
    <a:lvl3pPr marL="9144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3pPr>
    <a:lvl4pPr marL="13716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4pPr>
    <a:lvl5pPr marL="18288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5pPr>
    <a:lvl6pPr marL="22860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6pPr>
    <a:lvl7pPr marL="27432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7pPr>
    <a:lvl8pPr marL="32004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8pPr>
    <a:lvl9pPr marL="36576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
		<Relationship Id="rId1" Type="http://schemas.openxmlformats.org/officeDocument/2006/relationships/theme" Target="../theme/clean-notes-notesMaster1.xml.rels-theme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ko-KR">
                <a:ea typeface="Pretendard"/>
              </a:defRPr>
            </a:lvl1pPr>
          </a:lstStyle>
          <a:p>
            <a:endParaRPr lang="ko-KR">
              <a:ea typeface="Pretendard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ko-KR">
                <a:ea typeface="Pretendard"/>
              </a:defRPr>
            </a:lvl1pPr>
          </a:lstStyle>
          <a:p>
            <a:fld id="{5282F153-3F37-0F45-9E97-73ACFA13230C}" type="datetimeFigureOut">
              <a:rPr lang="ko-KR">
                <a:ea typeface="Pretendard"/>
              </a:rPr>
              <a:t>7/23/19</a:t>
            </a:fld>
            <a:endParaRPr lang="ko-KR">
              <a:ea typeface="Pretendard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>
              <a:ea typeface="Pretendard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>
                <a:ea typeface="Pretendard"/>
              </a:rPr>
              <a:t>Click to edit Master text styles</a:t>
            </a:r>
          </a:p>
          <a:p>
            <a:pPr lvl="1"/>
            <a:r>
              <a:rPr lang="ko-KR">
                <a:ea typeface="Pretendard"/>
              </a:rPr>
              <a:t>Second level</a:t>
            </a:r>
          </a:p>
          <a:p>
            <a:pPr lvl="2"/>
            <a:r>
              <a:rPr lang="ko-KR">
                <a:ea typeface="Pretendard"/>
              </a:rPr>
              <a:t>Third level</a:t>
            </a:r>
          </a:p>
          <a:p>
            <a:pPr lvl="3"/>
            <a:r>
              <a:rPr lang="ko-KR">
                <a:ea typeface="Pretendard"/>
              </a:rPr>
              <a:t>Fourth level</a:t>
            </a:r>
          </a:p>
          <a:p>
            <a:pPr lvl="4"/>
            <a:r>
              <a:rPr lang="ko-KR">
                <a:ea typeface="Pretendard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ko-KR">
                <a:ea typeface="Pretendard"/>
              </a:defRPr>
            </a:lvl1pPr>
          </a:lstStyle>
          <a:p>
            <a:endParaRPr lang="ko-KR">
              <a:ea typeface="Pretendard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ko-KR">
                <a:ea typeface="Pretendard"/>
              </a:defRPr>
            </a:lvl1pPr>
          </a:lstStyle>
          <a:p>
            <a:fld id="{CE5E9CC1-C706-0F49-92D6-E571CC5EEA8F}" type="slidenum">
              <a:rPr lang="ko-KR">
                <a:ea typeface="Pretendard"/>
              </a:rPr>
              <a:t>‹#›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1pPr>
    <a:lvl2pPr marL="4572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2pPr>
    <a:lvl3pPr marL="9144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3pPr>
    <a:lvl4pPr marL="13716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4pPr>
    <a:lvl5pPr marL="18288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5pPr>
    <a:lvl6pPr marL="22860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6pPr>
    <a:lvl7pPr marL="27432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7pPr>
    <a:lvl8pPr marL="32004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8pPr>
    <a:lvl9pPr marL="36576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약 30초. 종이 체크리스트를 작성한 뒤 엑셀로 다시 옮기는 과정에서 기록이 누락됩니다. 검수 현장에서 태블릿으로 기록을 마치는 개선안을 소개합니다. 이후 수치는 실제 운영 성과가 아닌 가상 연습 비교입니다.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1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가상 연습 자료입니다. 표시된 조건과 수치를 함께 설명합니다.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2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약 45초. 왼쪽부터 상품 코드를 조회하고 상태를 체크한 뒤 사진을 첨부해 기록을 저장합니다. 이 네 단계가 개선안입니다. 저장과 최종 확정은 구분하며 담당자가 최종 검수를 확정합니다. 자동 환불은 수행하지 않습니다.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3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가상 연습 자료입니다. 표시된 조건과 수치를 함께 설명합니다.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4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약 40초. 세 가지 경계를 함께 기억해야 합니다. 수치는 가상 연습 자료이고, 표본은 각각 20건입니다. 이 개선은 기록 자동화이며 최종 검수 확정은 담당자에게 있습니다. 자동 환불 기능으로 해석하지 않습니다.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5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약 35초. 다음 단계는 다른 품목으로 1주간 시험 운영하는 것입니다. 현재 연습에서 본 평균 시간과 입력 누락을 다음 시험에서도 확인하는 것을 제안합니다. 최종 검수 확정은 계속 담당자가 수행합니다. 이를 통해 품목이 달라도 기록 방식이 도움이 되는지 살펴보겠습니다.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6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ko-KR">
          <a:solidFill>
            <a:schemeClr val="tx1"/>
          </a:solidFill>
          <a:latin typeface="+mj-lt"/>
          <a:ea typeface="Pretendard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 lang="ko-KR">
          <a:solidFill>
            <a:schemeClr val="tx1"/>
          </a:solidFill>
          <a:latin typeface="+mn-lt"/>
          <a:ea typeface="Pretendard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 lang="ko-KR">
          <a:solidFill>
            <a:schemeClr val="tx1"/>
          </a:solidFill>
          <a:latin typeface="+mn-lt"/>
          <a:ea typeface="Pretendard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lang="ko-KR">
          <a:solidFill>
            <a:schemeClr val="tx1"/>
          </a:solidFill>
          <a:latin typeface="+mn-lt"/>
          <a:ea typeface="Pretendard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9pPr>
    </p:bodyStyle>
    <p:otherStyle>
      <a:defPPr>
        <a:defRPr lang="ko-KR">
          <a:ea typeface="Pretendard"/>
        </a:defRPr>
      </a:defPPr>
      <a:lvl1pPr marL="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1pPr>
      <a:lvl2pPr marL="4572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2pPr>
      <a:lvl3pPr marL="9144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3pPr>
      <a:lvl4pPr marL="13716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4pPr>
      <a:lvl5pPr marL="18288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5pPr>
      <a:lvl6pPr marL="22860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6pPr>
      <a:lvl7pPr marL="27432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7pPr>
      <a:lvl8pPr marL="32004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8pPr>
      <a:lvl9pPr marL="36576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1112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업무 개선 · 가상 연습</a:t>
            </a:r>
            <a:endParaRPr lang="ko-KR" sz="975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반품 검수 기록 자동화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668000" y="6438900"/>
            <a:ext cx="99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/ 6</a:t>
            </a:r>
            <a:endParaRPr lang="ko-KR" sz="975" dirty="0">
              <a:ea typeface="Pretendard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33400" y="16573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25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현장에서 확인하고, 현장에서 기록합니다.</a:t>
            </a:r>
            <a:endParaRPr lang="ko-KR" sz="2250" dirty="0">
              <a:ea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3400" y="2619375"/>
            <a:ext cx="5238750" cy="2524125"/>
          </a:xfrm>
          <a:prstGeom prst="rect">
            <a:avLst/>
          </a:prstGeom>
          <a:solidFill>
            <a:srgbClr val="EEF3F9"/>
          </a:solidFill>
          <a:ln w="9525">
            <a:solidFill>
              <a:srgbClr val="EEF3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38200" y="2952750"/>
            <a:ext cx="447675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7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→ 엑셀 재입력</a:t>
            </a:r>
            <a:endParaRPr lang="ko-KR" sz="2700" dirty="0">
              <a:ea typeface="Pretendard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38200" y="3762375"/>
            <a:ext cx="4381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검수와 기록이 나뉘면서</a:t>
            </a:r>
            <a:endParaRPr lang="ko-KR" sz="2175" dirty="0">
              <a:ea typeface="Pretendard"/>
            </a:endParaRPr>
          </a:p>
          <a:p>
            <a:pPr algn="l" indent="0" marL="0">
              <a:buNone/>
            </a:pPr>
            <a:r>
              <a:rPr lang="ko-KR" sz="21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누락 발생</a:t>
            </a:r>
            <a:endParaRPr lang="ko-KR" sz="2175" dirty="0">
              <a:ea typeface="Pretendard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477000" y="2314575"/>
            <a:ext cx="5181600" cy="3143250"/>
          </a:xfrm>
          <a:prstGeom prst="rect">
            <a:avLst/>
          </a:prstGeom>
          <a:solidFill>
            <a:srgbClr val="FFFFFF"/>
          </a:solidFill>
          <a:ln w="9525">
            <a:solidFill>
              <a:srgbClr val="2459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9900" y="2619375"/>
            <a:ext cx="4476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5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태블릿 검수 기록</a:t>
            </a:r>
            <a:endParaRPr lang="ko-KR" sz="2550" dirty="0">
              <a:ea typeface="Pretendard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819900" y="3381375"/>
            <a:ext cx="4191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코드 조회</a:t>
            </a:r>
            <a:endParaRPr lang="ko-KR" sz="2025" dirty="0">
              <a:ea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838950" y="3876675"/>
            <a:ext cx="4448175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9900" y="4171950"/>
            <a:ext cx="42862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25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 · 사진 · 저장</a:t>
            </a:r>
            <a:endParaRPr lang="ko-KR" sz="2250" dirty="0">
              <a:ea typeface="Pretendard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33400" y="5638800"/>
            <a:ext cx="9048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4분 발표  /  현장 운영 담당자</a:t>
            </a:r>
            <a:endParaRPr lang="ko-KR" sz="1500" dirty="0">
              <a:ea typeface="Pretendar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809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개선 / 가상 연습</a:t>
            </a:r>
            <a:endParaRPr lang="ko-KR" sz="975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방식의 변화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33400" y="1495425"/>
            <a:ext cx="11125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종이에서 엑셀로 옮기던 기록을 검수 현장에서 마칩니다.</a:t>
            </a:r>
            <a:endParaRPr lang="ko-KR" sz="1575" dirty="0">
              <a:ea typeface="Pretendard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3400" y="6362700"/>
            <a:ext cx="1112520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3400" y="6496050"/>
            <a:ext cx="809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반품 검수 기록 자동화</a:t>
            </a:r>
            <a:endParaRPr lang="ko-KR" sz="900" dirty="0">
              <a:ea typeface="Pretendard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0763250" y="6477000"/>
            <a:ext cx="895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0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06</a:t>
            </a:r>
            <a:endParaRPr lang="ko-KR" sz="1050" dirty="0">
              <a:ea typeface="Pretendard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324100" y="2057400"/>
            <a:ext cx="3981450" cy="495300"/>
          </a:xfrm>
          <a:prstGeom prst="rect">
            <a:avLst/>
          </a:prstGeom>
          <a:solidFill>
            <a:srgbClr val="F0F2F5"/>
          </a:solidFill>
          <a:ln w="12700">
            <a:solidFill>
              <a:srgbClr val="F0F2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67550" y="2057400"/>
            <a:ext cx="4591050" cy="495300"/>
          </a:xfrm>
          <a:prstGeom prst="rect">
            <a:avLst/>
          </a:prstGeom>
          <a:solidFill>
            <a:srgbClr val="2459A6"/>
          </a:solidFill>
          <a:ln w="12700">
            <a:solidFill>
              <a:srgbClr val="2459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2700" y="2171700"/>
            <a:ext cx="3333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725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방식</a:t>
            </a:r>
            <a:endParaRPr lang="ko-KR" sz="1725" dirty="0">
              <a:ea typeface="Pretendard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296150" y="2171700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725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방식</a:t>
            </a:r>
            <a:endParaRPr lang="ko-KR" sz="1725" dirty="0">
              <a:ea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067550" y="2667000"/>
            <a:ext cx="4591050" cy="291465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3400" y="2809875"/>
            <a:ext cx="15621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도구</a:t>
            </a:r>
            <a:endParaRPr lang="ko-KR" sz="1950" dirty="0">
              <a:ea typeface="Pretendard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2552700" y="2809875"/>
            <a:ext cx="3524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체크리스트</a:t>
            </a:r>
            <a:endParaRPr lang="ko-KR" sz="1950" dirty="0">
              <a:ea typeface="Pretendard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552700" y="3209925"/>
            <a:ext cx="3524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내용을 종이에 기입</a:t>
            </a:r>
            <a:endParaRPr lang="ko-KR" sz="1500" dirty="0">
              <a:ea typeface="Pretendard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515100" y="3057525"/>
            <a:ext cx="3429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296150" y="280987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태블릿 입력</a:t>
            </a:r>
            <a:endParaRPr lang="ko-KR" sz="1950" dirty="0">
              <a:ea typeface="Pretendard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296150" y="3209925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코드를 조회해 기록 시작</a:t>
            </a:r>
            <a:endParaRPr lang="ko-KR" sz="1500" dirty="0">
              <a:ea typeface="Pretendard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33400" y="3638550"/>
            <a:ext cx="577215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96150" y="3638550"/>
            <a:ext cx="413385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3400" y="3781425"/>
            <a:ext cx="15621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순서</a:t>
            </a:r>
            <a:endParaRPr lang="ko-KR" sz="1950" dirty="0">
              <a:ea typeface="Pretendard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2552700" y="3781425"/>
            <a:ext cx="3524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후 재입력</a:t>
            </a:r>
            <a:endParaRPr lang="ko-KR" sz="1950" dirty="0">
              <a:ea typeface="Pretendard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2552700" y="4181475"/>
            <a:ext cx="3524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기록을 엑셀로 옮겨 작성</a:t>
            </a:r>
            <a:endParaRPr lang="ko-KR" sz="1500" dirty="0">
              <a:ea typeface="Pretendard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515100" y="4029075"/>
            <a:ext cx="3429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296150" y="37814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현장에서 저장</a:t>
            </a:r>
            <a:endParaRPr lang="ko-KR" sz="1950" dirty="0">
              <a:ea typeface="Pretendard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7296150" y="4181475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단계에서 입력까지 완료</a:t>
            </a:r>
            <a:endParaRPr lang="ko-KR" sz="1500" dirty="0">
              <a:ea typeface="Pretendard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33400" y="4610100"/>
            <a:ext cx="577215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150" y="4610100"/>
            <a:ext cx="413385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3400" y="4752975"/>
            <a:ext cx="15621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구성</a:t>
            </a:r>
            <a:endParaRPr lang="ko-KR" sz="1950" dirty="0">
              <a:ea typeface="Pretendard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2552700" y="4752975"/>
            <a:ext cx="3524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 중심</a:t>
            </a:r>
            <a:endParaRPr lang="ko-KR" sz="1950" dirty="0">
              <a:ea typeface="Pretendard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2552700" y="5153025"/>
            <a:ext cx="3524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내용을 문서에 기록</a:t>
            </a:r>
            <a:endParaRPr lang="ko-KR" sz="1500" dirty="0">
              <a:ea typeface="Pretendard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515100" y="5000625"/>
            <a:ext cx="3429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296150" y="475297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상태와 사진</a:t>
            </a:r>
            <a:endParaRPr lang="ko-KR" sz="1950" dirty="0">
              <a:ea typeface="Pretendard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7296150" y="5153025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상태와 사진을 함께 저장</a:t>
            </a:r>
            <a:endParaRPr lang="ko-KR" sz="1500" dirty="0">
              <a:ea typeface="Pretendard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533400" y="58674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책임</a:t>
            </a:r>
            <a:endParaRPr lang="ko-KR" sz="1350" dirty="0">
              <a:ea typeface="Pretendard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2324100" y="5838825"/>
            <a:ext cx="93345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검수는 담당자가 확정합니다. 자동 환불은 수행하지 않습니다.</a:t>
            </a:r>
            <a:endParaRPr lang="ko-KR" sz="1575" dirty="0">
              <a:ea typeface="Pretendar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1112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태블릿 사용</a:t>
            </a:r>
            <a:endParaRPr lang="ko-KR" sz="975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업무 흐름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668000" y="6438900"/>
            <a:ext cx="99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6</a:t>
            </a:r>
            <a:endParaRPr lang="ko-KR" sz="975" dirty="0">
              <a:ea typeface="Pretendard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33400" y="1514475"/>
            <a:ext cx="11125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확인부터 기록 저장까지 한 기기에서 진행</a:t>
            </a:r>
            <a:endParaRPr lang="ko-KR" sz="2025" dirty="0">
              <a:ea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3400" y="2571750"/>
            <a:ext cx="2324100" cy="1476375"/>
          </a:xfrm>
          <a:prstGeom prst="rect">
            <a:avLst/>
          </a:prstGeom>
          <a:solidFill>
            <a:srgbClr val="EEF3F9"/>
          </a:solidFill>
          <a:ln w="9525">
            <a:solidFill>
              <a:srgbClr val="EEF3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2950" y="2743200"/>
            <a:ext cx="190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6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50" dirty="0">
              <a:ea typeface="Pretendard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42950" y="331470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7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코드 조회</a:t>
            </a:r>
            <a:endParaRPr lang="ko-KR" sz="2175" dirty="0">
              <a:ea typeface="Pretendard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467100" y="2571750"/>
            <a:ext cx="2324100" cy="1476375"/>
          </a:xfrm>
          <a:prstGeom prst="rect">
            <a:avLst/>
          </a:prstGeom>
          <a:solidFill>
            <a:srgbClr val="EEF3F9"/>
          </a:solidFill>
          <a:ln w="9525">
            <a:solidFill>
              <a:srgbClr val="EEF3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76650" y="2743200"/>
            <a:ext cx="190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6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50" dirty="0">
              <a:ea typeface="Pretendard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3676650" y="331470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7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 체크</a:t>
            </a:r>
            <a:endParaRPr lang="ko-KR" sz="2175" dirty="0">
              <a:ea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0" y="2571750"/>
            <a:ext cx="2324100" cy="1476375"/>
          </a:xfrm>
          <a:prstGeom prst="rect">
            <a:avLst/>
          </a:prstGeom>
          <a:solidFill>
            <a:srgbClr val="EEF3F9"/>
          </a:solidFill>
          <a:ln w="9525">
            <a:solidFill>
              <a:srgbClr val="EEF3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10350" y="2743200"/>
            <a:ext cx="190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6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50" dirty="0">
              <a:ea typeface="Pretendard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610350" y="331470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7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첨부</a:t>
            </a:r>
            <a:endParaRPr lang="ko-KR" sz="2175" dirty="0">
              <a:ea typeface="Pretendard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334500" y="2571750"/>
            <a:ext cx="2324100" cy="1476375"/>
          </a:xfrm>
          <a:prstGeom prst="rect">
            <a:avLst/>
          </a:prstGeom>
          <a:solidFill>
            <a:srgbClr val="EEF3F9"/>
          </a:solidFill>
          <a:ln w="9525">
            <a:solidFill>
              <a:srgbClr val="EEF3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44050" y="2743200"/>
            <a:ext cx="190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6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650" dirty="0">
              <a:ea typeface="Pretendard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9544050" y="331470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7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저장</a:t>
            </a:r>
            <a:endParaRPr lang="ko-KR" sz="2175" dirty="0">
              <a:ea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933700" y="3305175"/>
            <a:ext cx="40005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867400" y="3305175"/>
            <a:ext cx="40005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801100" y="3305175"/>
            <a:ext cx="40005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33400" y="4695825"/>
            <a:ext cx="111252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3400" y="5048250"/>
            <a:ext cx="6762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2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최종 검수 확정</a:t>
            </a:r>
            <a:endParaRPr lang="ko-KR" sz="2250" dirty="0">
              <a:ea typeface="Pretendard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8572500" y="5076825"/>
            <a:ext cx="3086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환불 없음</a:t>
            </a:r>
            <a:endParaRPr lang="ko-KR" sz="2025" dirty="0">
              <a:ea typeface="Pretendar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809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개선 / 가상 연습</a:t>
            </a:r>
            <a:endParaRPr lang="ko-KR" sz="975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시간과 입력 누락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33400" y="1495425"/>
            <a:ext cx="11125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방식과 개선 방식을 각각 20건씩 비교한 연습 자료입니다.</a:t>
            </a:r>
            <a:endParaRPr lang="ko-KR" sz="1575" dirty="0">
              <a:ea typeface="Pretendard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3400" y="6362700"/>
            <a:ext cx="1112520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3400" y="6496050"/>
            <a:ext cx="809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반품 검수 기록 자동화</a:t>
            </a:r>
            <a:endParaRPr lang="ko-KR" sz="900" dirty="0">
              <a:ea typeface="Pretendard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0763250" y="6477000"/>
            <a:ext cx="895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0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06</a:t>
            </a:r>
            <a:endParaRPr lang="ko-KR" sz="1050" dirty="0">
              <a:ea typeface="Pretendard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0" y="2133600"/>
            <a:ext cx="0" cy="346710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3400" y="2114550"/>
            <a:ext cx="495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건당 평균 검수 시간</a:t>
            </a:r>
            <a:endParaRPr lang="ko-KR" sz="2100" dirty="0">
              <a:ea typeface="Pretendard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33400" y="2762250"/>
            <a:ext cx="152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endParaRPr lang="ko-KR" sz="1350" dirty="0">
              <a:ea typeface="Pretendard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3314700" y="276225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endParaRPr lang="ko-KR" sz="1350" dirty="0">
              <a:ea typeface="Pretendard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33400" y="3095625"/>
            <a:ext cx="133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5250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ko-KR" sz="5250" dirty="0">
              <a:ea typeface="Pretendard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562100" y="3467100"/>
            <a:ext cx="57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ko-KR" sz="2100" dirty="0">
              <a:ea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24100" y="3552825"/>
            <a:ext cx="6096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14700" y="3019425"/>
            <a:ext cx="12382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61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ko-KR" sz="6150" dirty="0">
              <a:ea typeface="Pretendard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3886200" y="3467100"/>
            <a:ext cx="57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ko-KR" sz="2100" dirty="0">
              <a:ea typeface="Pretendard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33400" y="4533900"/>
            <a:ext cx="619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endParaRPr lang="ko-KR" sz="1350" dirty="0">
              <a:ea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257300" y="4552950"/>
            <a:ext cx="4191000" cy="17145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4552950"/>
            <a:ext cx="4191000" cy="171450"/>
          </a:xfrm>
          <a:prstGeom prst="rect">
            <a:avLst/>
          </a:prstGeom>
          <a:solidFill>
            <a:srgbClr val="BCC8D8"/>
          </a:solidFill>
          <a:ln w="12700">
            <a:solidFill>
              <a:srgbClr val="BCC8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3400" y="5038725"/>
            <a:ext cx="619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endParaRPr lang="ko-KR" sz="1350" dirty="0">
              <a:ea typeface="Pretendard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257300" y="5057775"/>
            <a:ext cx="4191000" cy="17145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5057775"/>
            <a:ext cx="2357438" cy="171450"/>
          </a:xfrm>
          <a:prstGeom prst="rect">
            <a:avLst/>
          </a:prstGeom>
          <a:solidFill>
            <a:srgbClr val="2459A6"/>
          </a:solidFill>
          <a:ln w="12700">
            <a:solidFill>
              <a:srgbClr val="2459A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05600" y="2114550"/>
            <a:ext cx="495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누락</a:t>
            </a:r>
            <a:endParaRPr lang="ko-KR" sz="2100" dirty="0">
              <a:ea typeface="Pretendard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705600" y="2762250"/>
            <a:ext cx="152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endParaRPr lang="ko-KR" sz="1350" dirty="0">
              <a:ea typeface="Pretendard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9486900" y="276225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endParaRPr lang="ko-KR" sz="1350" dirty="0">
              <a:ea typeface="Pretendard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705600" y="3095625"/>
            <a:ext cx="133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5250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ko-KR" sz="5250" dirty="0">
              <a:ea typeface="Pretendard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7277100" y="3467100"/>
            <a:ext cx="57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</a:t>
            </a:r>
            <a:endParaRPr lang="ko-KR" sz="2100" dirty="0">
              <a:ea typeface="Pretendard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496300" y="3552825"/>
            <a:ext cx="6096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9486900" y="3019425"/>
            <a:ext cx="12382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61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ko-KR" sz="6150" dirty="0">
              <a:ea typeface="Pretendard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10058400" y="3467100"/>
            <a:ext cx="57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</a:t>
            </a:r>
            <a:endParaRPr lang="ko-KR" sz="2100" dirty="0">
              <a:ea typeface="Pretendard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6705600" y="4533900"/>
            <a:ext cx="619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endParaRPr lang="ko-KR" sz="1350" dirty="0">
              <a:ea typeface="Pretendard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29500" y="4552950"/>
            <a:ext cx="4191000" cy="17145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29500" y="4552950"/>
            <a:ext cx="4191000" cy="171450"/>
          </a:xfrm>
          <a:prstGeom prst="rect">
            <a:avLst/>
          </a:prstGeom>
          <a:solidFill>
            <a:srgbClr val="BCC8D8"/>
          </a:solidFill>
          <a:ln w="12700">
            <a:solidFill>
              <a:srgbClr val="BCC8D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05600" y="5038725"/>
            <a:ext cx="619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endParaRPr lang="ko-KR" sz="1350" dirty="0">
              <a:ea typeface="Pretendard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429500" y="5057775"/>
            <a:ext cx="4191000" cy="17145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9500" y="5057775"/>
            <a:ext cx="1796143" cy="171450"/>
          </a:xfrm>
          <a:prstGeom prst="rect">
            <a:avLst/>
          </a:prstGeom>
          <a:solidFill>
            <a:srgbClr val="2459A6"/>
          </a:solidFill>
          <a:ln w="12700">
            <a:solidFill>
              <a:srgbClr val="2459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400" y="5753100"/>
            <a:ext cx="11125200" cy="400050"/>
          </a:xfrm>
          <a:prstGeom prst="rect">
            <a:avLst/>
          </a:prstGeom>
          <a:solidFill>
            <a:srgbClr val="EEF3F9"/>
          </a:solidFill>
          <a:ln w="12700">
            <a:solidFill>
              <a:srgbClr val="EEF3F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04850" y="5848350"/>
            <a:ext cx="17145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2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연습 자료</a:t>
            </a:r>
            <a:endParaRPr lang="ko-KR" sz="1275" dirty="0">
              <a:ea typeface="Pretendard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2514600" y="5829300"/>
            <a:ext cx="876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표본이 작아 일반 성능으로 확대하지 않습니다.</a:t>
            </a:r>
            <a:endParaRPr lang="ko-KR" sz="1500" dirty="0">
              <a:ea typeface="Pretendar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1112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판단 기준</a:t>
            </a:r>
            <a:endParaRPr lang="ko-KR" sz="975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범위와 한계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668000" y="6438900"/>
            <a:ext cx="99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6</a:t>
            </a:r>
            <a:endParaRPr lang="ko-KR" sz="975" dirty="0">
              <a:ea typeface="Pretendard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33400" y="1514475"/>
            <a:ext cx="11125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좋아진 기록 방식과 검증해야 할 성능을 구분</a:t>
            </a:r>
            <a:endParaRPr lang="ko-KR" sz="2025" dirty="0">
              <a:ea typeface="Pretendard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33400" y="2381250"/>
            <a:ext cx="266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성격</a:t>
            </a:r>
            <a:endParaRPr lang="ko-KR" sz="2175" dirty="0">
              <a:ea typeface="Pretendard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3667125" y="2333625"/>
            <a:ext cx="78105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연습 자료</a:t>
            </a:r>
            <a:endParaRPr lang="ko-KR" sz="2100" dirty="0">
              <a:ea typeface="Pretendard"/>
            </a:endParaRPr>
          </a:p>
          <a:p>
            <a:pPr algn="l" indent="0" marL="0">
              <a:buNone/>
            </a:pPr>
            <a:r>
              <a:rPr lang="ko-KR" sz="210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고객·운영 실적이 아님</a:t>
            </a:r>
            <a:endParaRPr lang="ko-KR" sz="2100" dirty="0">
              <a:ea typeface="Pretendard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33400" y="3390900"/>
            <a:ext cx="111252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3400" y="3657600"/>
            <a:ext cx="266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범위</a:t>
            </a:r>
            <a:endParaRPr lang="ko-KR" sz="2175" dirty="0">
              <a:ea typeface="Pretendard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3667125" y="3609975"/>
            <a:ext cx="78105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기존·개선 각 20건</a:t>
            </a:r>
            <a:endParaRPr lang="ko-KR" sz="2100" dirty="0">
              <a:ea typeface="Pretendard"/>
            </a:endParaRPr>
          </a:p>
          <a:p>
            <a:pPr algn="l" indent="0" marL="0">
              <a:buNone/>
            </a:pPr>
            <a:r>
              <a:rPr lang="ko-KR" sz="210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 성능으로 확대하지 않음</a:t>
            </a:r>
            <a:endParaRPr lang="ko-KR" sz="2100" dirty="0">
              <a:ea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33400" y="4667250"/>
            <a:ext cx="111252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3400" y="4933950"/>
            <a:ext cx="266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책임</a:t>
            </a:r>
            <a:endParaRPr lang="ko-KR" sz="2175" dirty="0">
              <a:ea typeface="Pretendard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3667125" y="4886325"/>
            <a:ext cx="78105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담당자가 최종 검수 확정</a:t>
            </a:r>
            <a:endParaRPr lang="ko-KR" sz="2100" dirty="0">
              <a:ea typeface="Pretendard"/>
            </a:endParaRPr>
          </a:p>
          <a:p>
            <a:pPr algn="l" indent="0" marL="0">
              <a:buNone/>
            </a:pPr>
            <a:r>
              <a:rPr lang="ko-KR" sz="210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환불은 수행하지 않음</a:t>
            </a:r>
            <a:endParaRPr lang="ko-KR" sz="2100" dirty="0">
              <a:ea typeface="Pretendar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1112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시험 운영</a:t>
            </a:r>
            <a:endParaRPr lang="ko-KR" sz="975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668000" y="6438900"/>
            <a:ext cx="99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6</a:t>
            </a:r>
            <a:endParaRPr lang="ko-KR" sz="975" dirty="0">
              <a:ea typeface="Pretendard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33400" y="1695450"/>
            <a:ext cx="111252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92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품목으로 1주간 시험 운영</a:t>
            </a:r>
            <a:endParaRPr lang="ko-KR" sz="2925" dirty="0">
              <a:ea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3400" y="2752725"/>
            <a:ext cx="3381375" cy="2762250"/>
          </a:xfrm>
          <a:prstGeom prst="rect">
            <a:avLst/>
          </a:prstGeom>
          <a:solidFill>
            <a:srgbClr val="EEF3F9"/>
          </a:solidFill>
          <a:ln w="9525">
            <a:solidFill>
              <a:srgbClr val="EEF3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9625" y="3000375"/>
            <a:ext cx="2762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570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</a:t>
            </a:r>
            <a:endParaRPr lang="ko-KR" sz="5700" dirty="0">
              <a:ea typeface="Pretendard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09625" y="4276725"/>
            <a:ext cx="27622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 운영 기간</a:t>
            </a:r>
            <a:endParaRPr lang="ko-KR" sz="2100" dirty="0">
              <a:ea typeface="Pretendard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33900" y="2838450"/>
            <a:ext cx="69532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범위</a:t>
            </a:r>
            <a:endParaRPr lang="ko-KR" sz="2100" dirty="0">
              <a:ea typeface="Pretendard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33900" y="3276600"/>
            <a:ext cx="695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32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품목으로 적용</a:t>
            </a:r>
            <a:endParaRPr lang="ko-KR" sz="2325" dirty="0">
              <a:ea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33900" y="3971925"/>
            <a:ext cx="71247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33900" y="4238625"/>
            <a:ext cx="6953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제안</a:t>
            </a:r>
            <a:endParaRPr lang="ko-KR" sz="1950" dirty="0">
              <a:ea typeface="Pretendard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533900" y="4705350"/>
            <a:ext cx="695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건당 평균 시간 · 입력 누락</a:t>
            </a:r>
            <a:endParaRPr lang="ko-KR" sz="2175" dirty="0">
              <a:ea typeface="Pretendard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33400" y="5791200"/>
            <a:ext cx="11125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72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검수 확정: 담당자</a:t>
            </a:r>
            <a:endParaRPr lang="ko-KR" sz="1725" dirty="0">
              <a:ea typeface="Pretendard"/>
            </a:endParaRPr>
          </a:p>
        </p:txBody>
      </p:sp>
    </p:spTree>
  </p:cSld>
  <p:clrMapOvr>
    <a:masterClrMapping/>
  </p:clrMapOvr>
</p:sld>
</file>

<file path=ppt/theme/clean-notes-notesMaster1.xml.rels-theme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반품 검수 기록 자동화</dc:title>
  <dc:subject>가상 연습 · 현장 운영 담당자 · 4분</dc:subject>
  <dc:creator>Git 이력 참조</dc:creator>
  <cp:lastModifiedBy>Git 이력 참조</cp:lastModifiedBy>
  <cp:revision>1</cp:revision>
  <dcterms:created xsi:type="dcterms:W3CDTF">2026-10-22T02:28:49Z</dcterms:created>
  <dcterms:modified xsi:type="dcterms:W3CDTF">2026-10-22T02:28:49Z</dcterms:modified>
</cp:coreProperties>
</file>