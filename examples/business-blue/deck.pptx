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clean-notes-notesMaster1.xml.rels-theme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1pPr>
    <a:lvl2pPr marL="4572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2pPr>
    <a:lvl3pPr marL="9144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3pPr>
    <a:lvl4pPr marL="13716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4pPr>
    <a:lvl5pPr marL="18288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5pPr>
    <a:lvl6pPr marL="22860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6pPr>
    <a:lvl7pPr marL="27432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7pPr>
    <a:lvl8pPr marL="32004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8pPr>
    <a:lvl9pPr marL="3657600" algn="l" defTabSz="914400" rtl="0" eaLnBrk="1" latinLnBrk="0" hangingPunct="1">
      <a:defRPr sz="1800" kern="1200" lang="ko-KR">
        <a:solidFill>
          <a:schemeClr val="tx1"/>
        </a:solidFill>
        <a:latin typeface="+mn-lt"/>
        <a:ea typeface="Pretendard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
		<Relationship Id="rId1" Type="http://schemas.openxmlformats.org/officeDocument/2006/relationships/theme" Target="../theme/clean-notes-notesMaster1.xml.rels-theme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ko-KR">
                <a:ea typeface="Pretendard"/>
              </a:defRPr>
            </a:lvl1pPr>
          </a:lstStyle>
          <a:p>
            <a:endParaRPr lang="ko-KR">
              <a:ea typeface="Pretendard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ko-KR">
                <a:ea typeface="Pretendard"/>
              </a:defRPr>
            </a:lvl1pPr>
          </a:lstStyle>
          <a:p>
            <a:fld id="{5282F153-3F37-0F45-9E97-73ACFA13230C}" type="datetimeFigureOut">
              <a:rPr lang="ko-KR">
                <a:ea typeface="Pretendard"/>
              </a:rPr>
              <a:t>7/23/19</a:t>
            </a:fld>
            <a:endParaRPr lang="ko-KR">
              <a:ea typeface="Pretendard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>
              <a:ea typeface="Pretendard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>
                <a:ea typeface="Pretendard"/>
              </a:rPr>
              <a:t>Click to edit Master text styles</a:t>
            </a:r>
          </a:p>
          <a:p>
            <a:pPr lvl="1"/>
            <a:r>
              <a:rPr lang="ko-KR">
                <a:ea typeface="Pretendard"/>
              </a:rPr>
              <a:t>Second level</a:t>
            </a:r>
          </a:p>
          <a:p>
            <a:pPr lvl="2"/>
            <a:r>
              <a:rPr lang="ko-KR">
                <a:ea typeface="Pretendard"/>
              </a:rPr>
              <a:t>Third level</a:t>
            </a:r>
          </a:p>
          <a:p>
            <a:pPr lvl="3"/>
            <a:r>
              <a:rPr lang="ko-KR">
                <a:ea typeface="Pretendard"/>
              </a:rPr>
              <a:t>Fourth level</a:t>
            </a:r>
          </a:p>
          <a:p>
            <a:pPr lvl="4"/>
            <a:r>
              <a:rPr lang="ko-KR">
                <a:ea typeface="Pretendard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ko-KR">
                <a:ea typeface="Pretendard"/>
              </a:defRPr>
            </a:lvl1pPr>
          </a:lstStyle>
          <a:p>
            <a:endParaRPr lang="ko-KR">
              <a:ea typeface="Pretendard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ko-KR">
                <a:ea typeface="Pretendard"/>
              </a:defRPr>
            </a:lvl1pPr>
          </a:lstStyle>
          <a:p>
            <a:fld id="{CE5E9CC1-C706-0F49-92D6-E571CC5EEA8F}" type="slidenum">
              <a:rPr lang="ko-KR">
                <a:ea typeface="Pretendard"/>
              </a:rPr>
              <a:t>‹#›</a:t>
            </a:fld>
            <a:endParaRPr lang="ko-KR"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1pPr>
    <a:lvl2pPr marL="4572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2pPr>
    <a:lvl3pPr marL="9144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3pPr>
    <a:lvl4pPr marL="13716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4pPr>
    <a:lvl5pPr marL="18288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5pPr>
    <a:lvl6pPr marL="22860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6pPr>
    <a:lvl7pPr marL="27432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7pPr>
    <a:lvl8pPr marL="32004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8pPr>
    <a:lvl9pPr marL="3657600" algn="l" defTabSz="914400" rtl="0" eaLnBrk="1" latinLnBrk="0" hangingPunct="1">
      <a:defRPr sz="1200" kern="1200" lang="ko-KR">
        <a:solidFill>
          <a:schemeClr val="tx1"/>
        </a:solidFill>
        <a:latin typeface="+mn-lt"/>
        <a:ea typeface="Pretendard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>
                <a:ea typeface="Pretendard"/>
              </a:rPr>
              <a:t>현장의 문제부터 적용 범위까지</a:t>
            </a:r>
            <a:endParaRPr lang="ko-KR" dirty="0">
              <a:ea typeface="Pretendard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>
                <a:ea typeface="Pretendard"/>
              </a:rPr>
              <a:t>1</a:t>
            </a:fld>
            <a:endParaRPr lang="ko-KR"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>
                <a:ea typeface="Pretendard"/>
              </a:rPr>
              <a:t>가상 연습 자료입니다. 표시된 조건과 수치를 함께 설명합니다.</a:t>
            </a:r>
            <a:endParaRPr lang="ko-KR" dirty="0">
              <a:ea typeface="Pretendard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>
                <a:ea typeface="Pretendard"/>
              </a:rPr>
              <a:t>2</a:t>
            </a:fld>
            <a:endParaRPr lang="ko-KR"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>
                <a:ea typeface="Pretendard"/>
              </a:rPr>
              <a:t>태블릿 입력은 기록을 돕고, 최종 판단은 담당자가 맡습니다.</a:t>
            </a:r>
            <a:endParaRPr lang="ko-KR" dirty="0">
              <a:ea typeface="Pretendard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>
                <a:ea typeface="Pretendard"/>
              </a:rPr>
              <a:t>3</a:t>
            </a:fld>
            <a:endParaRPr lang="ko-KR"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>
                <a:ea typeface="Pretendard"/>
              </a:rPr>
              <a:t>가상 연습 자료입니다. 표시된 조건과 수치를 함께 설명합니다.</a:t>
            </a:r>
            <a:endParaRPr lang="ko-KR" dirty="0">
              <a:ea typeface="Pretendard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>
                <a:ea typeface="Pretendard"/>
              </a:rPr>
              <a:t>4</a:t>
            </a:fld>
            <a:endParaRPr lang="ko-KR"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>
                <a:ea typeface="Pretendard"/>
              </a:rPr>
              <a:t>자동화할 기록과 사람이 판단할 업무를 구분합니다.</a:t>
            </a:r>
            <a:endParaRPr lang="ko-KR" dirty="0">
              <a:ea typeface="Pretendard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>
                <a:ea typeface="Pretendard"/>
              </a:rPr>
              <a:t>5</a:t>
            </a:fld>
            <a:endParaRPr lang="ko-KR"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>
                <a:ea typeface="Pretendard"/>
              </a:rPr>
              <a:t>다른 제품군에서도 같은 기록 방식이 맞는지 확인합니다.</a:t>
            </a:r>
            <a:endParaRPr lang="ko-KR" dirty="0">
              <a:ea typeface="Pretendard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>
                <a:ea typeface="Pretendard"/>
              </a:rPr>
              <a:t>6</a:t>
            </a:fld>
            <a:endParaRPr lang="ko-KR"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ko-KR">
          <a:solidFill>
            <a:schemeClr val="tx1"/>
          </a:solidFill>
          <a:latin typeface="+mj-lt"/>
          <a:ea typeface="Pretendard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 lang="ko-KR">
          <a:solidFill>
            <a:schemeClr val="tx1"/>
          </a:solidFill>
          <a:latin typeface="+mn-lt"/>
          <a:ea typeface="Pretendard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 lang="ko-KR">
          <a:solidFill>
            <a:schemeClr val="tx1"/>
          </a:solidFill>
          <a:latin typeface="+mn-lt"/>
          <a:ea typeface="Pretendard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lang="ko-KR">
          <a:solidFill>
            <a:schemeClr val="tx1"/>
          </a:solidFill>
          <a:latin typeface="+mn-lt"/>
          <a:ea typeface="Pretendard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lang="ko-KR">
          <a:solidFill>
            <a:schemeClr val="tx1"/>
          </a:solidFill>
          <a:latin typeface="+mn-lt"/>
          <a:ea typeface="Pretendard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 lang="ko-KR">
          <a:solidFill>
            <a:schemeClr val="tx1"/>
          </a:solidFill>
          <a:latin typeface="+mn-lt"/>
          <a:ea typeface="Pretendard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 lang="ko-KR">
          <a:solidFill>
            <a:schemeClr val="tx1"/>
          </a:solidFill>
          <a:latin typeface="+mn-lt"/>
          <a:ea typeface="Pretendard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 lang="ko-KR">
          <a:solidFill>
            <a:schemeClr val="tx1"/>
          </a:solidFill>
          <a:latin typeface="+mn-lt"/>
          <a:ea typeface="Pretendard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 lang="ko-KR">
          <a:solidFill>
            <a:schemeClr val="tx1"/>
          </a:solidFill>
          <a:latin typeface="+mn-lt"/>
          <a:ea typeface="Pretendard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 lang="ko-KR">
          <a:solidFill>
            <a:schemeClr val="tx1"/>
          </a:solidFill>
          <a:latin typeface="+mn-lt"/>
          <a:ea typeface="Pretendard"/>
          <a:cs typeface="+mn-cs"/>
        </a:defRPr>
      </a:lvl9pPr>
    </p:bodyStyle>
    <p:otherStyle>
      <a:defPPr>
        <a:defRPr lang="ko-KR">
          <a:ea typeface="Pretendard"/>
        </a:defRPr>
      </a:defPPr>
      <a:lvl1pPr marL="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1pPr>
      <a:lvl2pPr marL="4572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2pPr>
      <a:lvl3pPr marL="9144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3pPr>
      <a:lvl4pPr marL="13716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4pPr>
      <a:lvl5pPr marL="18288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5pPr>
      <a:lvl6pPr marL="22860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6pPr>
      <a:lvl7pPr marL="27432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7pPr>
      <a:lvl8pPr marL="32004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8pPr>
      <a:lvl9pPr marL="3657600" algn="l" defTabSz="914400" rtl="0" eaLnBrk="1" latinLnBrk="0" hangingPunct="1">
        <a:defRPr sz="1800" kern="1200" lang="ko-KR">
          <a:solidFill>
            <a:schemeClr val="tx1"/>
          </a:solidFill>
          <a:latin typeface="+mn-lt"/>
          <a:ea typeface="Pretendard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285750"/>
            <a:ext cx="1047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20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PPT  /  BUSINESS PRESENTATION</a:t>
            </a:r>
            <a:endParaRPr lang="ko-KR" sz="1200" dirty="0">
              <a:ea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752475"/>
            <a:ext cx="11125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33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개선 발표</a:t>
            </a:r>
            <a:endParaRPr lang="ko-KR" sz="3300" dirty="0">
              <a:ea typeface="Pretendard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33400" y="1495425"/>
            <a:ext cx="1112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현장의 문제부터 적용 범위까지</a:t>
            </a:r>
            <a:endParaRPr lang="ko-KR" sz="1575" dirty="0">
              <a:ea typeface="Pretendard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33400" y="2000250"/>
            <a:ext cx="6667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45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반품 검수</a:t>
            </a:r>
            <a:endParaRPr lang="ko-KR" sz="4500" dirty="0">
              <a:ea typeface="Pretendard"/>
            </a:endParaRPr>
          </a:p>
          <a:p>
            <a:pPr algn="l" indent="0" marL="0">
              <a:buNone/>
            </a:pPr>
            <a:r>
              <a:rPr lang="ko-KR" sz="45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자동화</a:t>
            </a:r>
            <a:endParaRPr lang="ko-KR" sz="4500" dirty="0">
              <a:ea typeface="Pretendard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33400" y="3743325"/>
            <a:ext cx="61912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종이에 적고 다시 옮기던 기록을</a:t>
            </a:r>
            <a:endParaRPr lang="ko-KR" sz="1950" dirty="0">
              <a:ea typeface="Pretendard"/>
            </a:endParaRPr>
          </a:p>
          <a:p>
            <a:pPr algn="l" indent="0" marL="0">
              <a:buNone/>
            </a:pPr>
            <a:r>
              <a:rPr lang="ko-KR" sz="19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현장에서 마치는 개선안입니다.</a:t>
            </a:r>
            <a:endParaRPr lang="ko-KR" sz="1950" dirty="0">
              <a:ea typeface="Pretendard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33400" y="5495925"/>
            <a:ext cx="6000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개선 제안  /  발표 구성 예시</a:t>
            </a:r>
            <a:endParaRPr lang="ko-KR" sz="1500" dirty="0">
              <a:ea typeface="Pretendard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848600" y="1952625"/>
            <a:ext cx="3810000" cy="384810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96250" y="2257425"/>
            <a:ext cx="419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6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650" dirty="0">
              <a:ea typeface="Pretendard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8667750" y="2257425"/>
            <a:ext cx="274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025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방식</a:t>
            </a:r>
            <a:endParaRPr lang="ko-KR" sz="2025" dirty="0">
              <a:ea typeface="Pretendard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667750" y="2686050"/>
            <a:ext cx="266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42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기존과 개선 비교</a:t>
            </a:r>
            <a:endParaRPr lang="ko-KR" sz="1425" dirty="0">
              <a:ea typeface="Pretendard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096250" y="3390900"/>
            <a:ext cx="419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6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650" dirty="0">
              <a:ea typeface="Pretendard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667750" y="3390900"/>
            <a:ext cx="274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025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흐름</a:t>
            </a:r>
            <a:endParaRPr lang="ko-KR" sz="2025" dirty="0">
              <a:ea typeface="Pretendard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667750" y="3819525"/>
            <a:ext cx="266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42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입력부터 최종 검수까지</a:t>
            </a:r>
            <a:endParaRPr lang="ko-KR" sz="1425" dirty="0">
              <a:ea typeface="Pretendard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8096250" y="4524375"/>
            <a:ext cx="419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6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650" dirty="0">
              <a:ea typeface="Pretendard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667750" y="4524375"/>
            <a:ext cx="274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025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판단</a:t>
            </a:r>
            <a:endParaRPr lang="ko-KR" sz="2025" dirty="0">
              <a:ea typeface="Pretendard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667750" y="4953000"/>
            <a:ext cx="266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42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연습 수치와 다음 시험</a:t>
            </a:r>
            <a:endParaRPr lang="ko-KR" sz="1425" dirty="0">
              <a:ea typeface="Pretendard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33400" y="6362700"/>
            <a:ext cx="11125200" cy="0"/>
          </a:xfrm>
          <a:prstGeom prst="line">
            <a:avLst/>
          </a:prstGeom>
          <a:noFill/>
          <a:ln w="19050">
            <a:solidFill>
              <a:srgbClr val="CDD6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400" y="6496050"/>
            <a:ext cx="1047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PPT  |  가상 예제</a:t>
            </a:r>
            <a:endParaRPr lang="ko-KR" sz="900" dirty="0">
              <a:ea typeface="Pretendard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10858500" y="6477000"/>
            <a:ext cx="800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0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/ 06</a:t>
            </a:r>
            <a:endParaRPr lang="ko-KR" sz="1050" dirty="0">
              <a:ea typeface="Pretendar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285750"/>
            <a:ext cx="809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개선 / 가상 연습</a:t>
            </a:r>
            <a:endParaRPr lang="ko-KR" sz="975" dirty="0">
              <a:ea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752475"/>
            <a:ext cx="11125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33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방식의 변화</a:t>
            </a:r>
            <a:endParaRPr lang="ko-KR" sz="3300" dirty="0">
              <a:ea typeface="Pretendard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33400" y="1495425"/>
            <a:ext cx="11125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종이에서 엑셀로 옮기던 기록을 검수 현장에서 마칩니다.</a:t>
            </a:r>
            <a:endParaRPr lang="ko-KR" sz="1575" dirty="0">
              <a:ea typeface="Pretendard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33400" y="6362700"/>
            <a:ext cx="11125200" cy="0"/>
          </a:xfrm>
          <a:prstGeom prst="line">
            <a:avLst/>
          </a:prstGeom>
          <a:noFill/>
          <a:ln w="11430">
            <a:solidFill>
              <a:srgbClr val="CDD6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3400" y="6496050"/>
            <a:ext cx="809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반품 검수 기록 자동화</a:t>
            </a:r>
            <a:endParaRPr lang="ko-KR" sz="900" dirty="0">
              <a:ea typeface="Pretendard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0763250" y="6477000"/>
            <a:ext cx="895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0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06</a:t>
            </a:r>
            <a:endParaRPr lang="ko-KR" sz="1050" dirty="0">
              <a:ea typeface="Pretendard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324100" y="2057400"/>
            <a:ext cx="3981450" cy="495300"/>
          </a:xfrm>
          <a:prstGeom prst="rect">
            <a:avLst/>
          </a:prstGeom>
          <a:solidFill>
            <a:srgbClr val="F0F2F5"/>
          </a:solidFill>
          <a:ln w="12700">
            <a:solidFill>
              <a:srgbClr val="F0F2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67550" y="2057400"/>
            <a:ext cx="4591050" cy="495300"/>
          </a:xfrm>
          <a:prstGeom prst="rect">
            <a:avLst/>
          </a:prstGeom>
          <a:solidFill>
            <a:srgbClr val="2459A6"/>
          </a:solidFill>
          <a:ln w="12700">
            <a:solidFill>
              <a:srgbClr val="2459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52700" y="2171700"/>
            <a:ext cx="3333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725" b="1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방식</a:t>
            </a:r>
            <a:endParaRPr lang="ko-KR" sz="1725" dirty="0">
              <a:ea typeface="Pretendard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7296150" y="2171700"/>
            <a:ext cx="4095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725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방식</a:t>
            </a:r>
            <a:endParaRPr lang="ko-KR" sz="1725" dirty="0">
              <a:ea typeface="Pretendard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067550" y="2667000"/>
            <a:ext cx="4591050" cy="291465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3400" y="2809875"/>
            <a:ext cx="15621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도구</a:t>
            </a:r>
            <a:endParaRPr lang="ko-KR" sz="1950" dirty="0">
              <a:ea typeface="Pretendard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2552700" y="2809875"/>
            <a:ext cx="3524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체크리스트</a:t>
            </a:r>
            <a:endParaRPr lang="ko-KR" sz="1950" dirty="0">
              <a:ea typeface="Pretendard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2552700" y="3209925"/>
            <a:ext cx="3524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내용을 종이에 기입</a:t>
            </a:r>
            <a:endParaRPr lang="ko-KR" sz="1500" dirty="0">
              <a:ea typeface="Pretendard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515100" y="3057525"/>
            <a:ext cx="34290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7296150" y="280987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태블릿 입력</a:t>
            </a:r>
            <a:endParaRPr lang="ko-KR" sz="1950" dirty="0">
              <a:ea typeface="Pretendard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7296150" y="3209925"/>
            <a:ext cx="4095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코드를 조회해 기록 시작</a:t>
            </a:r>
            <a:endParaRPr lang="ko-KR" sz="1500" dirty="0">
              <a:ea typeface="Pretendard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33400" y="3638550"/>
            <a:ext cx="5772150" cy="0"/>
          </a:xfrm>
          <a:prstGeom prst="line">
            <a:avLst/>
          </a:prstGeom>
          <a:noFill/>
          <a:ln w="11430">
            <a:solidFill>
              <a:srgbClr val="CDD6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96150" y="3638550"/>
            <a:ext cx="4133850" cy="0"/>
          </a:xfrm>
          <a:prstGeom prst="line">
            <a:avLst/>
          </a:prstGeom>
          <a:noFill/>
          <a:ln w="11430">
            <a:solidFill>
              <a:srgbClr val="CDD6E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3400" y="3781425"/>
            <a:ext cx="15621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순서</a:t>
            </a:r>
            <a:endParaRPr lang="ko-KR" sz="1950" dirty="0">
              <a:ea typeface="Pretendard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2552700" y="3781425"/>
            <a:ext cx="3524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후 재입력</a:t>
            </a:r>
            <a:endParaRPr lang="ko-KR" sz="1950" dirty="0">
              <a:ea typeface="Pretendard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2552700" y="4181475"/>
            <a:ext cx="3524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기록을 엑셀로 옮겨 작성</a:t>
            </a:r>
            <a:endParaRPr lang="ko-KR" sz="1500" dirty="0">
              <a:ea typeface="Pretendard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515100" y="4029075"/>
            <a:ext cx="34290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296150" y="37814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현장에서 저장</a:t>
            </a:r>
            <a:endParaRPr lang="ko-KR" sz="1950" dirty="0">
              <a:ea typeface="Pretendard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7296150" y="4181475"/>
            <a:ext cx="4095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단계에서 입력까지 완료</a:t>
            </a:r>
            <a:endParaRPr lang="ko-KR" sz="1500" dirty="0">
              <a:ea typeface="Pretendard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33400" y="4610100"/>
            <a:ext cx="5772150" cy="0"/>
          </a:xfrm>
          <a:prstGeom prst="line">
            <a:avLst/>
          </a:prstGeom>
          <a:noFill/>
          <a:ln w="11430">
            <a:solidFill>
              <a:srgbClr val="CDD6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6150" y="4610100"/>
            <a:ext cx="4133850" cy="0"/>
          </a:xfrm>
          <a:prstGeom prst="line">
            <a:avLst/>
          </a:prstGeom>
          <a:noFill/>
          <a:ln w="11430">
            <a:solidFill>
              <a:srgbClr val="CDD6E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3400" y="4752975"/>
            <a:ext cx="15621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구성</a:t>
            </a:r>
            <a:endParaRPr lang="ko-KR" sz="1950" dirty="0">
              <a:ea typeface="Pretendard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2552700" y="4752975"/>
            <a:ext cx="3524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 중심</a:t>
            </a:r>
            <a:endParaRPr lang="ko-KR" sz="1950" dirty="0">
              <a:ea typeface="Pretendard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2552700" y="5153025"/>
            <a:ext cx="3524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내용을 문서에 기록</a:t>
            </a:r>
            <a:endParaRPr lang="ko-KR" sz="1500" dirty="0">
              <a:ea typeface="Pretendard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515100" y="5000625"/>
            <a:ext cx="34290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7296150" y="475297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9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상태와 사진</a:t>
            </a:r>
            <a:endParaRPr lang="ko-KR" sz="1950" dirty="0">
              <a:ea typeface="Pretendard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7296150" y="5153025"/>
            <a:ext cx="4095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확인한 상태와 사진을 함께 저장</a:t>
            </a:r>
            <a:endParaRPr lang="ko-KR" sz="1500" dirty="0">
              <a:ea typeface="Pretendard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533400" y="58674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책임</a:t>
            </a:r>
            <a:endParaRPr lang="ko-KR" sz="1350" dirty="0">
              <a:ea typeface="Pretendard"/>
            </a:endParaRPr>
          </a:p>
        </p:txBody>
      </p:sp>
      <p:sp>
        <p:nvSpPr>
          <p:cNvPr id="36" name="Text 34"/>
          <p:cNvSpPr txBox="1"/>
          <p:nvPr/>
        </p:nvSpPr>
        <p:spPr>
          <a:xfrm>
            <a:off x="2324100" y="5838825"/>
            <a:ext cx="93345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7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검수는 담당자가 확정합니다. 자동 환불은 수행하지 않습니다.</a:t>
            </a:r>
            <a:endParaRPr lang="ko-KR" sz="1575" dirty="0">
              <a:ea typeface="Pretendar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285750"/>
            <a:ext cx="1047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20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PPT  /  BUSINESS PRESENTATION</a:t>
            </a:r>
            <a:endParaRPr lang="ko-KR" sz="1200" dirty="0">
              <a:ea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752475"/>
            <a:ext cx="11125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33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업무 흐름</a:t>
            </a:r>
            <a:endParaRPr lang="ko-KR" sz="3300" dirty="0">
              <a:ea typeface="Pretendard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33400" y="1495425"/>
            <a:ext cx="1112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태블릿 입력은 기록을 돕고, 최종 판단은 담당자가 맡습니다.</a:t>
            </a:r>
            <a:endParaRPr lang="ko-KR" sz="1575" dirty="0">
              <a:ea typeface="Pretendard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33400" y="2305050"/>
            <a:ext cx="2495550" cy="59055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23900" y="2438400"/>
            <a:ext cx="211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875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제품 확인</a:t>
            </a:r>
            <a:endParaRPr lang="ko-KR" sz="1875" dirty="0">
              <a:ea typeface="Pretendard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33400" y="3209925"/>
            <a:ext cx="2495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87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코드를</a:t>
            </a:r>
            <a:endParaRPr lang="ko-KR" sz="1875" dirty="0">
              <a:ea typeface="Pretendard"/>
            </a:endParaRPr>
          </a:p>
          <a:p>
            <a:pPr algn="l" indent="0" marL="0">
              <a:buNone/>
            </a:pPr>
            <a:r>
              <a:rPr lang="ko-KR" sz="187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확인합니다.</a:t>
            </a:r>
            <a:endParaRPr lang="ko-KR" sz="1875" dirty="0">
              <a:ea typeface="Pretendard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33400" y="4829175"/>
            <a:ext cx="2495550" cy="0"/>
          </a:xfrm>
          <a:prstGeom prst="line">
            <a:avLst/>
          </a:prstGeom>
          <a:noFill/>
          <a:ln w="19050">
            <a:solidFill>
              <a:srgbClr val="CDD6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86100" y="2600325"/>
            <a:ext cx="257175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09950" y="2305050"/>
            <a:ext cx="2495550" cy="59055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0450" y="2438400"/>
            <a:ext cx="211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875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상태 입력</a:t>
            </a:r>
            <a:endParaRPr lang="ko-KR" sz="1875" dirty="0">
              <a:ea typeface="Pretendard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3409950" y="3209925"/>
            <a:ext cx="2495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87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상태를</a:t>
            </a:r>
            <a:endParaRPr lang="ko-KR" sz="1875" dirty="0">
              <a:ea typeface="Pretendard"/>
            </a:endParaRPr>
          </a:p>
          <a:p>
            <a:pPr algn="l" indent="0" marL="0">
              <a:buNone/>
            </a:pPr>
            <a:r>
              <a:rPr lang="ko-KR" sz="187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선택합니다.</a:t>
            </a:r>
            <a:endParaRPr lang="ko-KR" sz="1875" dirty="0">
              <a:ea typeface="Pretendard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409950" y="4829175"/>
            <a:ext cx="2495550" cy="0"/>
          </a:xfrm>
          <a:prstGeom prst="line">
            <a:avLst/>
          </a:prstGeom>
          <a:noFill/>
          <a:ln w="19050">
            <a:solidFill>
              <a:srgbClr val="CDD6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62650" y="2600325"/>
            <a:ext cx="257175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86500" y="2305050"/>
            <a:ext cx="2495550" cy="59055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7000" y="2438400"/>
            <a:ext cx="211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875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사진 첨부</a:t>
            </a:r>
            <a:endParaRPr lang="ko-KR" sz="1875" dirty="0">
              <a:ea typeface="Pretendard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286500" y="3209925"/>
            <a:ext cx="2495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87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상태를</a:t>
            </a:r>
            <a:endParaRPr lang="ko-KR" sz="1875" dirty="0">
              <a:ea typeface="Pretendard"/>
            </a:endParaRPr>
          </a:p>
          <a:p>
            <a:pPr algn="l" indent="0" marL="0">
              <a:buNone/>
            </a:pPr>
            <a:r>
              <a:rPr lang="ko-KR" sz="187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사진으로 남깁니다.</a:t>
            </a:r>
            <a:endParaRPr lang="ko-KR" sz="1875" dirty="0">
              <a:ea typeface="Pretendard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86500" y="4829175"/>
            <a:ext cx="2495550" cy="0"/>
          </a:xfrm>
          <a:prstGeom prst="line">
            <a:avLst/>
          </a:prstGeom>
          <a:noFill/>
          <a:ln w="19050">
            <a:solidFill>
              <a:srgbClr val="CDD6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39200" y="2600325"/>
            <a:ext cx="257175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163050" y="2305050"/>
            <a:ext cx="2495550" cy="590550"/>
          </a:xfrm>
          <a:prstGeom prst="rect">
            <a:avLst/>
          </a:prstGeom>
          <a:solidFill>
            <a:srgbClr val="2459A6"/>
          </a:solidFill>
          <a:ln w="12700">
            <a:solidFill>
              <a:srgbClr val="2459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53550" y="2438400"/>
            <a:ext cx="211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875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기록 저장</a:t>
            </a:r>
            <a:endParaRPr lang="ko-KR" sz="1875" dirty="0">
              <a:ea typeface="Pretendard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9163050" y="3209925"/>
            <a:ext cx="2495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87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내용을</a:t>
            </a:r>
            <a:endParaRPr lang="ko-KR" sz="1875" dirty="0">
              <a:ea typeface="Pretendard"/>
            </a:endParaRPr>
          </a:p>
          <a:p>
            <a:pPr algn="l" indent="0" marL="0">
              <a:buNone/>
            </a:pPr>
            <a:r>
              <a:rPr lang="ko-KR" sz="187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저장합니다.</a:t>
            </a:r>
            <a:endParaRPr lang="ko-KR" sz="1875" dirty="0">
              <a:ea typeface="Pretendard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163050" y="4829175"/>
            <a:ext cx="2495550" cy="0"/>
          </a:xfrm>
          <a:prstGeom prst="line">
            <a:avLst/>
          </a:prstGeom>
          <a:noFill/>
          <a:ln w="19050">
            <a:solidFill>
              <a:srgbClr val="CDD6E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3400" y="5267325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75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경계</a:t>
            </a:r>
            <a:endParaRPr lang="ko-KR" sz="1575" dirty="0">
              <a:ea typeface="Pretendard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2476500" y="5219700"/>
            <a:ext cx="9144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800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담당자가 최종 검수합니다. 환불은 자동으로 처리하지 않습니다.</a:t>
            </a:r>
            <a:endParaRPr lang="ko-KR" sz="1800" dirty="0">
              <a:ea typeface="Pretendard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33400" y="6362700"/>
            <a:ext cx="11125200" cy="0"/>
          </a:xfrm>
          <a:prstGeom prst="line">
            <a:avLst/>
          </a:prstGeom>
          <a:noFill/>
          <a:ln w="19050">
            <a:solidFill>
              <a:srgbClr val="CDD6E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400" y="6496050"/>
            <a:ext cx="1047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PPT  |  가상 예제</a:t>
            </a:r>
            <a:endParaRPr lang="ko-KR" sz="900" dirty="0">
              <a:ea typeface="Pretendard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10858500" y="6477000"/>
            <a:ext cx="800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0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06</a:t>
            </a:r>
            <a:endParaRPr lang="ko-KR" sz="1050" dirty="0">
              <a:ea typeface="Pretendar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285750"/>
            <a:ext cx="809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개선 / 가상 연습</a:t>
            </a:r>
            <a:endParaRPr lang="ko-KR" sz="975" dirty="0">
              <a:ea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752475"/>
            <a:ext cx="11125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33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시간과 입력 누락</a:t>
            </a:r>
            <a:endParaRPr lang="ko-KR" sz="3300" dirty="0">
              <a:ea typeface="Pretendard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33400" y="1495425"/>
            <a:ext cx="11125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방식과 개선 방식을 각각 20건씩 비교한 연습 자료입니다.</a:t>
            </a:r>
            <a:endParaRPr lang="ko-KR" sz="1575" dirty="0">
              <a:ea typeface="Pretendard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33400" y="6362700"/>
            <a:ext cx="11125200" cy="0"/>
          </a:xfrm>
          <a:prstGeom prst="line">
            <a:avLst/>
          </a:prstGeom>
          <a:noFill/>
          <a:ln w="11430">
            <a:solidFill>
              <a:srgbClr val="CDD6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3400" y="6496050"/>
            <a:ext cx="809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반품 검수 기록 자동화</a:t>
            </a:r>
            <a:endParaRPr lang="ko-KR" sz="900" dirty="0">
              <a:ea typeface="Pretendard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0763250" y="6477000"/>
            <a:ext cx="895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0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06</a:t>
            </a:r>
            <a:endParaRPr lang="ko-KR" sz="1050" dirty="0">
              <a:ea typeface="Pretendard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6000" y="2133600"/>
            <a:ext cx="0" cy="3467100"/>
          </a:xfrm>
          <a:prstGeom prst="line">
            <a:avLst/>
          </a:prstGeom>
          <a:noFill/>
          <a:ln w="11430">
            <a:solidFill>
              <a:srgbClr val="CDD6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3400" y="2114550"/>
            <a:ext cx="4953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건당 평균 검수 시간</a:t>
            </a:r>
            <a:endParaRPr lang="ko-KR" sz="2100" dirty="0">
              <a:ea typeface="Pretendard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533400" y="2762250"/>
            <a:ext cx="152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b="1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</a:t>
            </a:r>
            <a:endParaRPr lang="ko-KR" sz="1350" dirty="0">
              <a:ea typeface="Pretendard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3314700" y="276225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</a:t>
            </a:r>
            <a:endParaRPr lang="ko-KR" sz="1350" dirty="0">
              <a:ea typeface="Pretendard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33400" y="3095625"/>
            <a:ext cx="1333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5250" b="1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ko-KR" sz="5250" dirty="0">
              <a:ea typeface="Pretendard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562100" y="3467100"/>
            <a:ext cx="57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ko-KR" sz="2100" dirty="0">
              <a:ea typeface="Pretendard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324100" y="3552825"/>
            <a:ext cx="60960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3314700" y="3019425"/>
            <a:ext cx="12382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61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ko-KR" sz="6150" dirty="0">
              <a:ea typeface="Pretendard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3886200" y="3467100"/>
            <a:ext cx="57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ko-KR" sz="2100" dirty="0">
              <a:ea typeface="Pretendard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533400" y="4533900"/>
            <a:ext cx="619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</a:t>
            </a:r>
            <a:endParaRPr lang="ko-KR" sz="1350" dirty="0">
              <a:ea typeface="Pretendard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257300" y="4552950"/>
            <a:ext cx="4191000" cy="171450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4552950"/>
            <a:ext cx="4191000" cy="171450"/>
          </a:xfrm>
          <a:prstGeom prst="rect">
            <a:avLst/>
          </a:prstGeom>
          <a:solidFill>
            <a:srgbClr val="BCC8D8"/>
          </a:solidFill>
          <a:ln w="12700">
            <a:solidFill>
              <a:srgbClr val="BCC8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3400" y="5038725"/>
            <a:ext cx="619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</a:t>
            </a:r>
            <a:endParaRPr lang="ko-KR" sz="1350" dirty="0">
              <a:ea typeface="Pretendard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257300" y="5057775"/>
            <a:ext cx="4191000" cy="171450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5057775"/>
            <a:ext cx="2357438" cy="171450"/>
          </a:xfrm>
          <a:prstGeom prst="rect">
            <a:avLst/>
          </a:prstGeom>
          <a:solidFill>
            <a:srgbClr val="2459A6"/>
          </a:solidFill>
          <a:ln w="12700">
            <a:solidFill>
              <a:srgbClr val="2459A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05600" y="2114550"/>
            <a:ext cx="4953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누락</a:t>
            </a:r>
            <a:endParaRPr lang="ko-KR" sz="2100" dirty="0">
              <a:ea typeface="Pretendard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6705600" y="2762250"/>
            <a:ext cx="152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b="1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</a:t>
            </a:r>
            <a:endParaRPr lang="ko-KR" sz="1350" dirty="0">
              <a:ea typeface="Pretendard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9486900" y="276225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</a:t>
            </a:r>
            <a:endParaRPr lang="ko-KR" sz="1350" dirty="0">
              <a:ea typeface="Pretendard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6705600" y="3095625"/>
            <a:ext cx="1333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5250" b="1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ko-KR" sz="5250" dirty="0">
              <a:ea typeface="Pretendard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7277100" y="3467100"/>
            <a:ext cx="57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</a:t>
            </a:r>
            <a:endParaRPr lang="ko-KR" sz="2100" dirty="0">
              <a:ea typeface="Pretendard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496300" y="3552825"/>
            <a:ext cx="609600" cy="0"/>
          </a:xfrm>
          <a:prstGeom prst="line">
            <a:avLst/>
          </a:prstGeom>
          <a:noFill/>
          <a:ln w="19050">
            <a:solidFill>
              <a:srgbClr val="2459A6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9486900" y="3019425"/>
            <a:ext cx="12382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61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ko-KR" sz="6150" dirty="0">
              <a:ea typeface="Pretendard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10058400" y="3467100"/>
            <a:ext cx="57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100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</a:t>
            </a:r>
            <a:endParaRPr lang="ko-KR" sz="2100" dirty="0">
              <a:ea typeface="Pretendard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6705600" y="4533900"/>
            <a:ext cx="619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</a:t>
            </a:r>
            <a:endParaRPr lang="ko-KR" sz="1350" dirty="0">
              <a:ea typeface="Pretendard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29500" y="4552950"/>
            <a:ext cx="4191000" cy="171450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29500" y="4552950"/>
            <a:ext cx="4191000" cy="171450"/>
          </a:xfrm>
          <a:prstGeom prst="rect">
            <a:avLst/>
          </a:prstGeom>
          <a:solidFill>
            <a:srgbClr val="BCC8D8"/>
          </a:solidFill>
          <a:ln w="12700">
            <a:solidFill>
              <a:srgbClr val="BCC8D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705600" y="5038725"/>
            <a:ext cx="619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3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</a:t>
            </a:r>
            <a:endParaRPr lang="ko-KR" sz="1350" dirty="0">
              <a:ea typeface="Pretendard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7429500" y="5057775"/>
            <a:ext cx="4191000" cy="171450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9500" y="5057775"/>
            <a:ext cx="1796143" cy="171450"/>
          </a:xfrm>
          <a:prstGeom prst="rect">
            <a:avLst/>
          </a:prstGeom>
          <a:solidFill>
            <a:srgbClr val="2459A6"/>
          </a:solidFill>
          <a:ln w="12700">
            <a:solidFill>
              <a:srgbClr val="2459A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400" y="5753100"/>
            <a:ext cx="11125200" cy="400050"/>
          </a:xfrm>
          <a:prstGeom prst="rect">
            <a:avLst/>
          </a:prstGeom>
          <a:solidFill>
            <a:srgbClr val="EEF3F9"/>
          </a:solidFill>
          <a:ln w="12700">
            <a:solidFill>
              <a:srgbClr val="EEF3F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04850" y="5848350"/>
            <a:ext cx="17145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275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연습 자료</a:t>
            </a:r>
            <a:endParaRPr lang="ko-KR" sz="1275" dirty="0">
              <a:ea typeface="Pretendard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2514600" y="5829300"/>
            <a:ext cx="876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표본이 작아 일반 성능으로 확대하지 않습니다.</a:t>
            </a:r>
            <a:endParaRPr lang="ko-KR" sz="1500" dirty="0">
              <a:ea typeface="Pretendar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285750"/>
            <a:ext cx="1047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20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PPT  /  BUSINESS PRESENTATION</a:t>
            </a:r>
            <a:endParaRPr lang="ko-KR" sz="1200" dirty="0">
              <a:ea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752475"/>
            <a:ext cx="11125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33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범위와 한계</a:t>
            </a:r>
            <a:endParaRPr lang="ko-KR" sz="3300" dirty="0">
              <a:ea typeface="Pretendard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33400" y="1495425"/>
            <a:ext cx="1112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자동화할 기록과 사람이 판단할 업무를 구분합니다.</a:t>
            </a:r>
            <a:endParaRPr lang="ko-KR" sz="1575" dirty="0">
              <a:ea typeface="Pretendard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33400" y="2209800"/>
            <a:ext cx="2857500" cy="346710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1050" y="2486025"/>
            <a:ext cx="2381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025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원칙</a:t>
            </a:r>
            <a:endParaRPr lang="ko-KR" sz="2025" dirty="0">
              <a:ea typeface="Pretendard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81050" y="3095625"/>
            <a:ext cx="23622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4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기록은 현장에서</a:t>
            </a:r>
            <a:endParaRPr lang="ko-KR" sz="2400" dirty="0">
              <a:ea typeface="Pretendard"/>
            </a:endParaRPr>
          </a:p>
          <a:p>
            <a:pPr algn="l" indent="0" marL="0">
              <a:buNone/>
            </a:pPr>
            <a:r>
              <a:rPr lang="ko-KR" sz="24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판단은 담당자가</a:t>
            </a:r>
            <a:endParaRPr lang="ko-KR" sz="2400" dirty="0">
              <a:ea typeface="Pretendard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3790950" y="2276475"/>
            <a:ext cx="1809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875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</a:t>
            </a:r>
            <a:endParaRPr lang="ko-KR" sz="1875" dirty="0">
              <a:ea typeface="Pretendard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5905500" y="2276475"/>
            <a:ext cx="5524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025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태블릿으로 입력</a:t>
            </a:r>
            <a:endParaRPr lang="ko-KR" sz="2025" dirty="0">
              <a:ea typeface="Pretendard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5905500" y="2743200"/>
            <a:ext cx="5524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코드, 상태와 사진을 함께 저장합니다.</a:t>
            </a:r>
            <a:endParaRPr lang="ko-KR" sz="1575" dirty="0">
              <a:ea typeface="Pretendard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790950" y="3238500"/>
            <a:ext cx="7867650" cy="0"/>
          </a:xfrm>
          <a:prstGeom prst="line">
            <a:avLst/>
          </a:prstGeom>
          <a:noFill/>
          <a:ln w="19050">
            <a:solidFill>
              <a:srgbClr val="CDD6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90950" y="3438525"/>
            <a:ext cx="1809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875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책임</a:t>
            </a:r>
            <a:endParaRPr lang="ko-KR" sz="1875" dirty="0">
              <a:ea typeface="Pretendard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5905500" y="3438525"/>
            <a:ext cx="5524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025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검수는 사람이 수행</a:t>
            </a:r>
            <a:endParaRPr lang="ko-KR" sz="2025" dirty="0">
              <a:ea typeface="Pretendard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905500" y="3905250"/>
            <a:ext cx="5524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환불 기능은 포함하지 않습니다.</a:t>
            </a:r>
            <a:endParaRPr lang="ko-KR" sz="1575" dirty="0">
              <a:ea typeface="Pretendard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790950" y="4400550"/>
            <a:ext cx="7867650" cy="0"/>
          </a:xfrm>
          <a:prstGeom prst="line">
            <a:avLst/>
          </a:prstGeom>
          <a:noFill/>
          <a:ln w="19050">
            <a:solidFill>
              <a:srgbClr val="CDD6E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90950" y="4600575"/>
            <a:ext cx="1809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875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해석</a:t>
            </a:r>
            <a:endParaRPr lang="ko-KR" sz="1875" dirty="0">
              <a:ea typeface="Pretendard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5905500" y="4600575"/>
            <a:ext cx="5524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025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연습 결과의 적용 범위</a:t>
            </a:r>
            <a:endParaRPr lang="ko-KR" sz="2025" dirty="0">
              <a:ea typeface="Pretendard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5905500" y="5067300"/>
            <a:ext cx="5524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표본의 수치를 전체 성과로 일반화하지 않습니다.</a:t>
            </a:r>
            <a:endParaRPr lang="ko-KR" sz="1575" dirty="0">
              <a:ea typeface="Pretendard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790950" y="5562600"/>
            <a:ext cx="7867650" cy="0"/>
          </a:xfrm>
          <a:prstGeom prst="line">
            <a:avLst/>
          </a:prstGeom>
          <a:noFill/>
          <a:ln w="19050">
            <a:solidFill>
              <a:srgbClr val="CDD6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3400" y="6362700"/>
            <a:ext cx="11125200" cy="0"/>
          </a:xfrm>
          <a:prstGeom prst="line">
            <a:avLst/>
          </a:prstGeom>
          <a:noFill/>
          <a:ln w="19050">
            <a:solidFill>
              <a:srgbClr val="CDD6E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3400" y="6496050"/>
            <a:ext cx="1047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PPT  |  가상 예제</a:t>
            </a:r>
            <a:endParaRPr lang="ko-KR" sz="900" dirty="0">
              <a:ea typeface="Pretendard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10858500" y="6477000"/>
            <a:ext cx="800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0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06</a:t>
            </a:r>
            <a:endParaRPr lang="ko-KR" sz="1050" dirty="0">
              <a:ea typeface="Pretendar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285750"/>
            <a:ext cx="1047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20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PPT  /  BUSINESS PRESENTATION</a:t>
            </a:r>
            <a:endParaRPr lang="ko-KR" sz="1200" dirty="0">
              <a:ea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752475"/>
            <a:ext cx="11125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330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ko-KR" sz="3300" dirty="0">
              <a:ea typeface="Pretendard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33400" y="1495425"/>
            <a:ext cx="1112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575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제품군에서도 같은 기록 방식이 맞는지 확인합니다.</a:t>
            </a:r>
            <a:endParaRPr lang="ko-KR" sz="1575" dirty="0">
              <a:ea typeface="Pretendard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33400" y="2238375"/>
            <a:ext cx="3429000" cy="3457575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8200" y="2505075"/>
            <a:ext cx="266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80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시험 기간</a:t>
            </a:r>
            <a:endParaRPr lang="ko-KR" sz="1800" dirty="0">
              <a:ea typeface="Pretendard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38200" y="3143250"/>
            <a:ext cx="2381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6150" b="1" dirty="0">
                <a:solidFill>
                  <a:srgbClr val="2459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</a:t>
            </a:r>
            <a:endParaRPr lang="ko-KR" sz="6150" dirty="0">
              <a:ea typeface="Pretendard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38200" y="4495800"/>
            <a:ext cx="261937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02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제품군에</a:t>
            </a:r>
            <a:endParaRPr lang="ko-KR" sz="2025" dirty="0">
              <a:ea typeface="Pretendard"/>
            </a:endParaRPr>
          </a:p>
          <a:p>
            <a:pPr algn="l" indent="0" marL="0">
              <a:buNone/>
            </a:pPr>
            <a:r>
              <a:rPr lang="ko-KR" sz="202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적용해 봅니다.</a:t>
            </a:r>
            <a:endParaRPr lang="ko-KR" sz="2025" dirty="0">
              <a:ea typeface="Pretendard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476750" y="2276475"/>
            <a:ext cx="6858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25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같은 기준으로 기록</a:t>
            </a:r>
            <a:endParaRPr lang="ko-KR" sz="2250" dirty="0">
              <a:ea typeface="Pretendard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476750" y="2895600"/>
            <a:ext cx="6905625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02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시간과 입력 누락을</a:t>
            </a:r>
            <a:endParaRPr lang="ko-KR" sz="2025" dirty="0">
              <a:ea typeface="Pretendard"/>
            </a:endParaRPr>
          </a:p>
          <a:p>
            <a:pPr algn="l" indent="0" marL="0">
              <a:buNone/>
            </a:pPr>
            <a:r>
              <a:rPr lang="ko-KR" sz="202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방식으로 확인합니다.</a:t>
            </a:r>
            <a:endParaRPr lang="ko-KR" sz="2025" dirty="0">
              <a:ea typeface="Pretendard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76750" y="4000500"/>
            <a:ext cx="7181850" cy="0"/>
          </a:xfrm>
          <a:prstGeom prst="line">
            <a:avLst/>
          </a:prstGeom>
          <a:noFill/>
          <a:ln w="19050">
            <a:solidFill>
              <a:srgbClr val="CDD6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76750" y="4324350"/>
            <a:ext cx="6858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250" b="1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결과를 보고 적용 판단</a:t>
            </a:r>
            <a:endParaRPr lang="ko-KR" sz="2250" dirty="0">
              <a:ea typeface="Pretendard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4476750" y="4933950"/>
            <a:ext cx="690562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202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담당자의 검수 부담과</a:t>
            </a:r>
            <a:endParaRPr lang="ko-KR" sz="2025" dirty="0">
              <a:ea typeface="Pretendard"/>
            </a:endParaRPr>
          </a:p>
          <a:p>
            <a:pPr algn="l" indent="0" marL="0">
              <a:buNone/>
            </a:pPr>
            <a:r>
              <a:rPr lang="ko-KR" sz="2025" dirty="0">
                <a:solidFill>
                  <a:srgbClr val="192A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제품별 입력 차이를 함께 살펴봅니다.</a:t>
            </a:r>
            <a:endParaRPr lang="ko-KR" sz="2025" dirty="0">
              <a:ea typeface="Pretendard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33400" y="6362700"/>
            <a:ext cx="11125200" cy="0"/>
          </a:xfrm>
          <a:prstGeom prst="line">
            <a:avLst/>
          </a:prstGeom>
          <a:noFill/>
          <a:ln w="19050">
            <a:solidFill>
              <a:srgbClr val="CDD6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400" y="6496050"/>
            <a:ext cx="1047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90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PPT  |  가상 예제</a:t>
            </a:r>
            <a:endParaRPr lang="ko-KR" sz="900" dirty="0">
              <a:ea typeface="Pretendard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10858500" y="6477000"/>
            <a:ext cx="800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sz="1050" dirty="0">
                <a:solidFill>
                  <a:srgbClr val="5261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06</a:t>
            </a:r>
            <a:endParaRPr lang="ko-KR" sz="1050" dirty="0">
              <a:ea typeface="Pretendard"/>
            </a:endParaRPr>
          </a:p>
        </p:txBody>
      </p:sp>
    </p:spTree>
  </p:cSld>
  <p:clrMapOvr>
    <a:masterClrMapping/>
  </p:clrMapOvr>
</p:sld>
</file>

<file path=ppt/theme/clean-notes-notesMaster1.xml.rels-theme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반품 검수 기록 자동화</dc:title>
  <dc:subject>가상 연습 · 현장 운영 담당자 · 4분</dc:subject>
  <dc:creator>Git 이력 참조</dc:creator>
  <cp:lastModifiedBy>Git 이력 참조</cp:lastModifiedBy>
  <cp:revision>1</cp:revision>
  <dcterms:created xsi:type="dcterms:W3CDTF">2026-10-22T02:34:33Z</dcterms:created>
  <dcterms:modified xsi:type="dcterms:W3CDTF">2026-10-22T02:34:33Z</dcterms:modified>
</cp:coreProperties>
</file>