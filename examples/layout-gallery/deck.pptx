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clean-notes-notesMaster1.xml.rels-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
		<Relationship Id="rId1" Type="http://schemas.openxmlformats.org/officeDocument/2006/relationships/theme" Target="../theme/clean-notes-notesMaster1.xml.rels-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ko-KR">
                <a:ea typeface="Pretendard"/>
              </a:defRPr>
            </a:lvl1pPr>
          </a:lstStyle>
          <a:p>
            <a:fld id="{5282F153-3F37-0F45-9E97-73ACFA13230C}" type="datetimeFigureOut">
              <a:rPr lang="ko-KR">
                <a:ea typeface="Pretendard"/>
              </a:rPr>
              <a:t>7/23/19</a:t>
            </a:fld>
            <a:endParaRPr lang="ko-KR">
              <a:ea typeface="Pretendard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>
              <a:ea typeface="Pretendard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>
                <a:ea typeface="Pretendard"/>
              </a:rPr>
              <a:t>Click to edit Master text styles</a:t>
            </a:r>
          </a:p>
          <a:p>
            <a:pPr lvl="1"/>
            <a:r>
              <a:rPr lang="ko-KR">
                <a:ea typeface="Pretendard"/>
              </a:rPr>
              <a:t>Second level</a:t>
            </a:r>
          </a:p>
          <a:p>
            <a:pPr lvl="2"/>
            <a:r>
              <a:rPr lang="ko-KR">
                <a:ea typeface="Pretendard"/>
              </a:rPr>
              <a:t>Third level</a:t>
            </a:r>
          </a:p>
          <a:p>
            <a:pPr lvl="3"/>
            <a:r>
              <a:rPr lang="ko-KR">
                <a:ea typeface="Pretendard"/>
              </a:rPr>
              <a:t>Fourth level</a:t>
            </a:r>
          </a:p>
          <a:p>
            <a:pPr lvl="4"/>
            <a:r>
              <a:rPr lang="ko-KR">
                <a:ea typeface="Pretendard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ko-KR">
                <a:ea typeface="Pretendard"/>
              </a:defRPr>
            </a:lvl1pPr>
          </a:lstStyle>
          <a:p>
            <a:fld id="{CE5E9CC1-C706-0F49-92D6-E571CC5EEA8F}" type="slidenum">
              <a:rPr lang="ko-KR">
                <a:ea typeface="Pretendard"/>
              </a:rPr>
              <a:t>‹#›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현장의 문제부터 적용 범위까지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가상 연습 자료입니다. 표시된 조건과 수치를 함께 설명합니다.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2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태블릿 입력은 기록을 돕고, 최종 판단은 담당자가 맡습니다.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3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가상 연습 자료입니다. 표시된 조건과 수치를 함께 설명합니다.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4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자동화할 기록과 사람이 판단할 업무를 구분합니다.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5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다른 제품군에서도 같은 기록 방식이 맞는지 확인합니다.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6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작게 시작하고, 답하지 못한 질문을 다음 개선에 반영합니다.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7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도입 전, 정확성과 사용 부담을 같은 기준으로 살펴봅니다.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8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시험 결과와 미확인 항목을 확인한 뒤 적용 범위를 결정합니다.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9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입력에서 검수까지의 책임을 나눈 구조 예시입니다.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10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통과 경로와 수정 경로를 분리해 읽는 흐름도 예시입니다.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11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짧은 코드와 설명을 나란히 두는 발표용 예시입니다.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12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ko-KR">
          <a:solidFill>
            <a:schemeClr val="tx1"/>
          </a:solidFill>
          <a:latin typeface="+mj-lt"/>
          <a:ea typeface="Pretendard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9pPr>
    </p:bodyStyle>
    <p:otherStyle>
      <a:defPPr>
        <a:defRPr lang="ko-KR">
          <a:ea typeface="Pretendard"/>
        </a:defRPr>
      </a:defPPr>
      <a:lvl1pPr marL="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457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914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371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18288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2860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743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200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657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개선 발표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현장의 문제부터 적용 범위까지</a:t>
            </a:r>
            <a:endParaRPr lang="ko-KR" sz="1575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33400" y="2000250"/>
            <a:ext cx="666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45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반품 검수</a:t>
            </a:r>
            <a:endParaRPr lang="ko-KR" sz="4500" dirty="0">
              <a:ea typeface="Pretendard"/>
            </a:endParaRPr>
          </a:p>
          <a:p>
            <a:pPr algn="l" indent="0" marL="0">
              <a:buNone/>
            </a:pPr>
            <a:r>
              <a:rPr lang="ko-KR" sz="45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자동화</a:t>
            </a:r>
            <a:endParaRPr lang="ko-KR" sz="4500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33400" y="3743325"/>
            <a:ext cx="6191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종이에 적고 다시 옮기던 기록을</a:t>
            </a:r>
            <a:endParaRPr lang="ko-KR" sz="1950" dirty="0">
              <a:ea typeface="Pretendard"/>
            </a:endParaRPr>
          </a:p>
          <a:p>
            <a:pPr algn="l" indent="0" marL="0">
              <a:buNone/>
            </a:pPr>
            <a:r>
              <a:rPr lang="ko-KR" sz="19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현장에서 마치는 개선안입니다.</a:t>
            </a:r>
            <a:endParaRPr lang="ko-KR" sz="1950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33400" y="5495925"/>
            <a:ext cx="600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개선 제안  /  발표 구성 예시</a:t>
            </a:r>
            <a:endParaRPr lang="ko-KR" sz="1500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48600" y="1952625"/>
            <a:ext cx="3810000" cy="38481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96250" y="2257425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650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667750" y="2257425"/>
            <a:ext cx="274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방식</a:t>
            </a:r>
            <a:endParaRPr lang="ko-KR" sz="202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667750" y="2686050"/>
            <a:ext cx="266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42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기존과 개선 비교</a:t>
            </a:r>
            <a:endParaRPr lang="ko-KR" sz="1425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96250" y="3390900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65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667750" y="3390900"/>
            <a:ext cx="274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흐름</a:t>
            </a:r>
            <a:endParaRPr lang="ko-KR" sz="2025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667750" y="3819525"/>
            <a:ext cx="266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42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입력부터 최종 검수까지</a:t>
            </a:r>
            <a:endParaRPr lang="ko-KR" sz="1425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096250" y="4524375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650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667750" y="4524375"/>
            <a:ext cx="274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판단</a:t>
            </a:r>
            <a:endParaRPr lang="ko-KR" sz="2025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667750" y="4953000"/>
            <a:ext cx="266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42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연습 수치와 다음 시험</a:t>
            </a:r>
            <a:endParaRPr lang="ko-KR" sz="1425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12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개선 / 가상 연습</a:t>
            </a:r>
            <a:endParaRPr lang="ko-KR" sz="975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방식의 변화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종이에서 엑셀로 옮기던 기록을 검수 현장에서 마칩니다.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1430">
            <a:solidFill>
              <a:srgbClr val="CDD6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3400" y="6496050"/>
            <a:ext cx="809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반품 검수 기록 자동화</a:t>
            </a:r>
            <a:endParaRPr lang="ko-KR" sz="900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763250" y="647700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12</a:t>
            </a:r>
            <a:endParaRPr lang="ko-KR" sz="1050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24100" y="2057400"/>
            <a:ext cx="3981450" cy="49530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67550" y="2057400"/>
            <a:ext cx="4591050" cy="495300"/>
          </a:xfrm>
          <a:prstGeom prst="rect">
            <a:avLst/>
          </a:prstGeom>
          <a:solidFill>
            <a:srgbClr val="2459A6"/>
          </a:solidFill>
          <a:ln w="12700">
            <a:solidFill>
              <a:srgbClr val="2459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2700" y="2171700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</a:t>
            </a:r>
            <a:endParaRPr lang="ko-KR" sz="172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296150" y="2171700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방식</a:t>
            </a:r>
            <a:endParaRPr lang="ko-KR" sz="1725" dirty="0"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067550" y="2667000"/>
            <a:ext cx="4591050" cy="291465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3400" y="2809875"/>
            <a:ext cx="1562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도구</a:t>
            </a:r>
            <a:endParaRPr lang="ko-KR" sz="1950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552700" y="2809875"/>
            <a:ext cx="3524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체크리스트</a:t>
            </a:r>
            <a:endParaRPr lang="ko-KR" sz="1950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2552700" y="3209925"/>
            <a:ext cx="3524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내용을 종이에 기입</a:t>
            </a:r>
            <a:endParaRPr lang="ko-KR" sz="1500" dirty="0">
              <a:ea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15100" y="3057525"/>
            <a:ext cx="34290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296150" y="2809875"/>
            <a:ext cx="409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태블릿 입력</a:t>
            </a:r>
            <a:endParaRPr lang="ko-KR" sz="1950" dirty="0">
              <a:ea typeface="Pretendard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296150" y="3209925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코드를 조회해 기록 시작</a:t>
            </a:r>
            <a:endParaRPr lang="ko-KR" sz="1500" dirty="0">
              <a:ea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33400" y="3638550"/>
            <a:ext cx="5772150" cy="0"/>
          </a:xfrm>
          <a:prstGeom prst="line">
            <a:avLst/>
          </a:prstGeom>
          <a:noFill/>
          <a:ln w="11430">
            <a:solidFill>
              <a:srgbClr val="CDD6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6150" y="3638550"/>
            <a:ext cx="4133850" cy="0"/>
          </a:xfrm>
          <a:prstGeom prst="line">
            <a:avLst/>
          </a:prstGeom>
          <a:noFill/>
          <a:ln w="11430">
            <a:solidFill>
              <a:srgbClr val="CDD6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3400" y="3781425"/>
            <a:ext cx="1562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순서</a:t>
            </a:r>
            <a:endParaRPr lang="ko-KR" sz="1950" dirty="0"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2552700" y="3781425"/>
            <a:ext cx="3524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후 재입력</a:t>
            </a:r>
            <a:endParaRPr lang="ko-KR" sz="1950" dirty="0">
              <a:ea typeface="Pretendard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2552700" y="4181475"/>
            <a:ext cx="3524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기록을 엑셀로 옮겨 작성</a:t>
            </a:r>
            <a:endParaRPr lang="ko-KR" sz="1500" dirty="0">
              <a:ea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15100" y="4029075"/>
            <a:ext cx="34290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296150" y="3781425"/>
            <a:ext cx="409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현장에서 저장</a:t>
            </a:r>
            <a:endParaRPr lang="ko-KR" sz="1950" dirty="0">
              <a:ea typeface="Pretendard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296150" y="4181475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단계에서 입력까지 완료</a:t>
            </a:r>
            <a:endParaRPr lang="ko-KR" sz="1500" dirty="0">
              <a:ea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3400" y="4610100"/>
            <a:ext cx="5772150" cy="0"/>
          </a:xfrm>
          <a:prstGeom prst="line">
            <a:avLst/>
          </a:prstGeom>
          <a:noFill/>
          <a:ln w="11430">
            <a:solidFill>
              <a:srgbClr val="CDD6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150" y="4610100"/>
            <a:ext cx="4133850" cy="0"/>
          </a:xfrm>
          <a:prstGeom prst="line">
            <a:avLst/>
          </a:prstGeom>
          <a:noFill/>
          <a:ln w="11430">
            <a:solidFill>
              <a:srgbClr val="CDD6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3400" y="4752975"/>
            <a:ext cx="1562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구성</a:t>
            </a:r>
            <a:endParaRPr lang="ko-KR" sz="1950" dirty="0">
              <a:ea typeface="Pretendard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2552700" y="4752975"/>
            <a:ext cx="3524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 중심</a:t>
            </a:r>
            <a:endParaRPr lang="ko-KR" sz="1950" dirty="0">
              <a:ea typeface="Pretendard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2552700" y="5153025"/>
            <a:ext cx="3524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내용을 문서에 기록</a:t>
            </a:r>
            <a:endParaRPr lang="ko-KR" sz="1500" dirty="0">
              <a:ea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15100" y="5000625"/>
            <a:ext cx="34290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296150" y="4752975"/>
            <a:ext cx="409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상태와 사진</a:t>
            </a:r>
            <a:endParaRPr lang="ko-KR" sz="1950" dirty="0">
              <a:ea typeface="Pretendard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296150" y="5153025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확인한 상태와 사진을 함께 저장</a:t>
            </a:r>
            <a:endParaRPr lang="ko-KR" sz="1500" dirty="0">
              <a:ea typeface="Pretendard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533400" y="58674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3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책임</a:t>
            </a:r>
            <a:endParaRPr lang="ko-KR" sz="1350" dirty="0">
              <a:ea typeface="Pretendard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2324100" y="5838825"/>
            <a:ext cx="9334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검수는 담당자가 확정합니다. 자동 환불은 수행하지 않습니다.</a:t>
            </a:r>
            <a:endParaRPr lang="ko-KR" sz="1575" dirty="0">
              <a:ea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업무 흐름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태블릿 입력은 기록을 돕고, 최종 판단은 담당자가 맡습니다.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2305050"/>
            <a:ext cx="2495550" cy="59055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00" y="2438400"/>
            <a:ext cx="211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제품 확인</a:t>
            </a:r>
            <a:endParaRPr lang="ko-KR" sz="187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33400" y="3209925"/>
            <a:ext cx="2495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코드를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확인합니다.</a:t>
            </a:r>
            <a:endParaRPr lang="ko-KR" sz="1875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3400" y="4829175"/>
            <a:ext cx="24955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86100" y="2600325"/>
            <a:ext cx="25717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9950" y="2305050"/>
            <a:ext cx="2495550" cy="59055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0450" y="2438400"/>
            <a:ext cx="211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상태 입력</a:t>
            </a:r>
            <a:endParaRPr lang="ko-KR" sz="1875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409950" y="3209925"/>
            <a:ext cx="2495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상태를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선택합니다.</a:t>
            </a:r>
            <a:endParaRPr lang="ko-KR" sz="1875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09950" y="4829175"/>
            <a:ext cx="24955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62650" y="2600325"/>
            <a:ext cx="25717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86500" y="2305050"/>
            <a:ext cx="2495550" cy="59055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7000" y="2438400"/>
            <a:ext cx="211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사진 첨부</a:t>
            </a:r>
            <a:endParaRPr lang="ko-KR" sz="1875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286500" y="3209925"/>
            <a:ext cx="2495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상태를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사진으로 남깁니다.</a:t>
            </a:r>
            <a:endParaRPr lang="ko-KR" sz="1875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86500" y="4829175"/>
            <a:ext cx="24955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39200" y="2600325"/>
            <a:ext cx="25717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63050" y="2305050"/>
            <a:ext cx="2495550" cy="590550"/>
          </a:xfrm>
          <a:prstGeom prst="rect">
            <a:avLst/>
          </a:prstGeom>
          <a:solidFill>
            <a:srgbClr val="2459A6"/>
          </a:solidFill>
          <a:ln w="12700">
            <a:solidFill>
              <a:srgbClr val="2459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53550" y="2438400"/>
            <a:ext cx="211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기록 저장</a:t>
            </a:r>
            <a:endParaRPr lang="ko-KR" sz="1875" dirty="0"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163050" y="3209925"/>
            <a:ext cx="2495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내용을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저장합니다.</a:t>
            </a:r>
            <a:endParaRPr lang="ko-KR" sz="1875" dirty="0">
              <a:ea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63050" y="4829175"/>
            <a:ext cx="24955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3400" y="5267325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경계</a:t>
            </a:r>
            <a:endParaRPr lang="ko-KR" sz="1575" dirty="0">
              <a:ea typeface="Pretendard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2476500" y="5219700"/>
            <a:ext cx="9144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담당자가 최종 검수합니다. 환불은 자동으로 처리하지 않습니다.</a:t>
            </a:r>
            <a:endParaRPr lang="ko-KR" sz="1800" dirty="0">
              <a:ea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12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809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개선 / 가상 연습</a:t>
            </a:r>
            <a:endParaRPr lang="ko-KR" sz="975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시간과 입력 누락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방식과 개선 방식을 각각 20건씩 비교한 연습 자료입니다.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1430">
            <a:solidFill>
              <a:srgbClr val="CDD6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3400" y="6496050"/>
            <a:ext cx="809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반품 검수 기록 자동화</a:t>
            </a:r>
            <a:endParaRPr lang="ko-KR" sz="900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763250" y="647700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12</a:t>
            </a:r>
            <a:endParaRPr lang="ko-KR" sz="1050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6000" y="2133600"/>
            <a:ext cx="0" cy="3467100"/>
          </a:xfrm>
          <a:prstGeom prst="line">
            <a:avLst/>
          </a:prstGeom>
          <a:noFill/>
          <a:ln w="11430">
            <a:solidFill>
              <a:srgbClr val="CDD6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3400" y="2114550"/>
            <a:ext cx="495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건당 평균 검수 시간</a:t>
            </a:r>
            <a:endParaRPr lang="ko-KR" sz="2100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33400" y="276225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350" b="1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</a:t>
            </a:r>
            <a:endParaRPr lang="ko-KR" sz="1350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314700" y="276225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3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</a:t>
            </a:r>
            <a:endParaRPr lang="ko-KR" sz="135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33400" y="3095625"/>
            <a:ext cx="1333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5250" b="1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ko-KR" sz="525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562100" y="3467100"/>
            <a:ext cx="571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ko-KR" sz="2100" dirty="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24100" y="3552825"/>
            <a:ext cx="60960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314700" y="3019425"/>
            <a:ext cx="12382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61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ko-KR" sz="6150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886200" y="3467100"/>
            <a:ext cx="571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ko-KR" sz="2100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33400" y="4533900"/>
            <a:ext cx="619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3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</a:t>
            </a:r>
            <a:endParaRPr lang="ko-KR" sz="1350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257300" y="4552950"/>
            <a:ext cx="4191000" cy="17145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4552950"/>
            <a:ext cx="4191000" cy="171450"/>
          </a:xfrm>
          <a:prstGeom prst="rect">
            <a:avLst/>
          </a:prstGeom>
          <a:solidFill>
            <a:srgbClr val="BCC8D8"/>
          </a:solidFill>
          <a:ln w="12700">
            <a:solidFill>
              <a:srgbClr val="BCC8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3400" y="5038725"/>
            <a:ext cx="619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3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</a:t>
            </a:r>
            <a:endParaRPr lang="ko-KR" sz="1350" dirty="0"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257300" y="5057775"/>
            <a:ext cx="4191000" cy="17145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5057775"/>
            <a:ext cx="2357438" cy="171450"/>
          </a:xfrm>
          <a:prstGeom prst="rect">
            <a:avLst/>
          </a:prstGeom>
          <a:solidFill>
            <a:srgbClr val="2459A6"/>
          </a:solidFill>
          <a:ln w="12700">
            <a:solidFill>
              <a:srgbClr val="2459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05600" y="2114550"/>
            <a:ext cx="495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누락</a:t>
            </a:r>
            <a:endParaRPr lang="ko-KR" sz="2100" dirty="0">
              <a:ea typeface="Pretendard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705600" y="276225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350" b="1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</a:t>
            </a:r>
            <a:endParaRPr lang="ko-KR" sz="1350" dirty="0">
              <a:ea typeface="Pretendard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486900" y="276225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3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</a:t>
            </a:r>
            <a:endParaRPr lang="ko-KR" sz="1350" dirty="0">
              <a:ea typeface="Pretendard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705600" y="3095625"/>
            <a:ext cx="1333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5250" b="1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ko-KR" sz="5250" dirty="0">
              <a:ea typeface="Pretendard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277100" y="3467100"/>
            <a:ext cx="571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endParaRPr lang="ko-KR" sz="2100" dirty="0">
              <a:ea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96300" y="3552825"/>
            <a:ext cx="60960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9486900" y="3019425"/>
            <a:ext cx="12382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61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ko-KR" sz="6150" dirty="0">
              <a:ea typeface="Pretendard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0058400" y="3467100"/>
            <a:ext cx="571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endParaRPr lang="ko-KR" sz="2100" dirty="0">
              <a:ea typeface="Pretendard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705600" y="4533900"/>
            <a:ext cx="619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3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</a:t>
            </a:r>
            <a:endParaRPr lang="ko-KR" sz="1350" dirty="0">
              <a:ea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429500" y="4552950"/>
            <a:ext cx="4191000" cy="17145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29500" y="4552950"/>
            <a:ext cx="4191000" cy="171450"/>
          </a:xfrm>
          <a:prstGeom prst="rect">
            <a:avLst/>
          </a:prstGeom>
          <a:solidFill>
            <a:srgbClr val="BCC8D8"/>
          </a:solidFill>
          <a:ln w="12700">
            <a:solidFill>
              <a:srgbClr val="BCC8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05600" y="5038725"/>
            <a:ext cx="619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3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</a:t>
            </a:r>
            <a:endParaRPr lang="ko-KR" sz="1350" dirty="0">
              <a:ea typeface="Pretendard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29500" y="5057775"/>
            <a:ext cx="4191000" cy="171450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29500" y="5057775"/>
            <a:ext cx="1796143" cy="171450"/>
          </a:xfrm>
          <a:prstGeom prst="rect">
            <a:avLst/>
          </a:prstGeom>
          <a:solidFill>
            <a:srgbClr val="2459A6"/>
          </a:solidFill>
          <a:ln w="12700">
            <a:solidFill>
              <a:srgbClr val="2459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3400" y="5753100"/>
            <a:ext cx="11125200" cy="40005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4850" y="5848350"/>
            <a:ext cx="1714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연습 자료</a:t>
            </a:r>
            <a:endParaRPr lang="ko-KR" sz="1275" dirty="0">
              <a:ea typeface="Pretendard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2514600" y="5829300"/>
            <a:ext cx="876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표본이 작아 일반 성능으로 확대하지 않습니다.</a:t>
            </a:r>
            <a:endParaRPr lang="ko-KR" sz="1500" dirty="0">
              <a:ea typeface="Pretendar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범위와 한계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자동화할 기록과 사람이 판단할 업무를 구분합니다.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2209800"/>
            <a:ext cx="2857500" cy="34671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050" y="2486025"/>
            <a:ext cx="238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원칙</a:t>
            </a:r>
            <a:endParaRPr lang="ko-KR" sz="202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81050" y="3095625"/>
            <a:ext cx="2362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4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기록은 현장에서</a:t>
            </a:r>
            <a:endParaRPr lang="ko-KR" sz="2400" dirty="0">
              <a:ea typeface="Pretendard"/>
            </a:endParaRPr>
          </a:p>
          <a:p>
            <a:pPr algn="l" indent="0" marL="0">
              <a:buNone/>
            </a:pPr>
            <a:r>
              <a:rPr lang="ko-KR" sz="24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판단은 담당자가</a:t>
            </a:r>
            <a:endParaRPr lang="ko-KR" sz="24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790950" y="2276475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</a:t>
            </a:r>
            <a:endParaRPr lang="ko-KR" sz="1875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905500" y="2276475"/>
            <a:ext cx="5524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태블릿으로 입력</a:t>
            </a:r>
            <a:endParaRPr lang="ko-KR" sz="2025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905500" y="2743200"/>
            <a:ext cx="552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코드, 상태와 사진을 함께 저장합니다.</a:t>
            </a:r>
            <a:endParaRPr lang="ko-KR" sz="1575" dirty="0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790950" y="3238500"/>
            <a:ext cx="78676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0950" y="3438525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</a:t>
            </a:r>
            <a:endParaRPr lang="ko-KR" sz="1875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905500" y="3438525"/>
            <a:ext cx="5524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검수는 사람이 수행</a:t>
            </a:r>
            <a:endParaRPr lang="ko-KR" sz="2025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905500" y="3905250"/>
            <a:ext cx="552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환불 기능은 포함하지 않습니다.</a:t>
            </a:r>
            <a:endParaRPr lang="ko-KR" sz="1575" dirty="0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90950" y="4400550"/>
            <a:ext cx="78676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0950" y="4600575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</a:t>
            </a:r>
            <a:endParaRPr lang="ko-KR" sz="1875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905500" y="4600575"/>
            <a:ext cx="5524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연습 결과의 적용 범위</a:t>
            </a:r>
            <a:endParaRPr lang="ko-KR" sz="2025" dirty="0">
              <a:ea typeface="Pretendard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905500" y="5067300"/>
            <a:ext cx="552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표본의 수치를 전체 성과로 일반화하지 않습니다.</a:t>
            </a:r>
            <a:endParaRPr lang="ko-KR" sz="1575" dirty="0">
              <a:ea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90950" y="5562600"/>
            <a:ext cx="78676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12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제품군에서도 같은 기록 방식이 맞는지 확인합니다.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2238375"/>
            <a:ext cx="3429000" cy="3457575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8200" y="2505075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시험 기간</a:t>
            </a:r>
            <a:endParaRPr lang="ko-KR" sz="1800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38200" y="3143250"/>
            <a:ext cx="2381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615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</a:t>
            </a:r>
            <a:endParaRPr lang="ko-KR" sz="615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38200" y="4495800"/>
            <a:ext cx="26193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제품군에</a:t>
            </a:r>
            <a:endParaRPr lang="ko-KR" sz="2025" dirty="0">
              <a:ea typeface="Pretendard"/>
            </a:endParaRPr>
          </a:p>
          <a:p>
            <a:pPr algn="l" indent="0" marL="0">
              <a:buNone/>
            </a:pPr>
            <a:r>
              <a:rPr lang="ko-KR" sz="202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적용해 봅니다.</a:t>
            </a:r>
            <a:endParaRPr lang="ko-KR" sz="2025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476750" y="2276475"/>
            <a:ext cx="6858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같은 기준으로 기록</a:t>
            </a:r>
            <a:endParaRPr lang="ko-KR" sz="2250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476750" y="2895600"/>
            <a:ext cx="6905625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시간과 입력 누락을</a:t>
            </a:r>
            <a:endParaRPr lang="ko-KR" sz="2025" dirty="0">
              <a:ea typeface="Pretendard"/>
            </a:endParaRPr>
          </a:p>
          <a:p>
            <a:pPr algn="l" indent="0" marL="0">
              <a:buNone/>
            </a:pPr>
            <a:r>
              <a:rPr lang="ko-KR" sz="202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방식으로 확인합니다.</a:t>
            </a:r>
            <a:endParaRPr lang="ko-KR" sz="2025" dirty="0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76750" y="4000500"/>
            <a:ext cx="71818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6750" y="4324350"/>
            <a:ext cx="6858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결과를 보고 적용 판단</a:t>
            </a:r>
            <a:endParaRPr lang="ko-KR" sz="225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476750" y="4933950"/>
            <a:ext cx="690562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담당자의 검수 부담과</a:t>
            </a:r>
            <a:endParaRPr lang="ko-KR" sz="2025" dirty="0">
              <a:ea typeface="Pretendard"/>
            </a:endParaRPr>
          </a:p>
          <a:p>
            <a:pPr algn="l" indent="0" marL="0">
              <a:buNone/>
            </a:pPr>
            <a:r>
              <a:rPr lang="ko-KR" sz="202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입력 차이를 함께 살펴봅니다.</a:t>
            </a:r>
            <a:endParaRPr lang="ko-KR" sz="2025" dirty="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12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일정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시작하고, 답하지 못한 질문을 다음 개선에 반영합니다.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33400" y="2266950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첫째 주</a:t>
            </a:r>
            <a:endParaRPr lang="ko-KR" sz="2100" dirty="0">
              <a:ea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400" y="2933700"/>
            <a:ext cx="3143250" cy="0"/>
          </a:xfrm>
          <a:prstGeom prst="line">
            <a:avLst/>
          </a:prstGeom>
          <a:noFill/>
          <a:ln w="19050">
            <a:solidFill>
              <a:srgbClr val="2263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3400" y="323850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6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30개</a:t>
            </a:r>
            <a:endParaRPr lang="ko-KR" sz="36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33400" y="4248150"/>
            <a:ext cx="3143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안내문을 모으고</a:t>
            </a:r>
            <a:endParaRPr lang="ko-KR" sz="1950" dirty="0">
              <a:ea typeface="Pretendard"/>
            </a:endParaRPr>
          </a:p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정리합니다.</a:t>
            </a:r>
            <a:endParaRPr lang="ko-KR" sz="1950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14850" y="2266950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둘째 주</a:t>
            </a:r>
            <a:endParaRPr lang="ko-KR" sz="2100" dirty="0"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14850" y="2933700"/>
            <a:ext cx="3143250" cy="0"/>
          </a:xfrm>
          <a:prstGeom prst="line">
            <a:avLst/>
          </a:prstGeom>
          <a:noFill/>
          <a:ln w="19050">
            <a:solidFill>
              <a:srgbClr val="2263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4850" y="323850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6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3명</a:t>
            </a:r>
            <a:endParaRPr lang="ko-KR" sz="360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14850" y="4248150"/>
            <a:ext cx="3143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질문으로</a:t>
            </a:r>
            <a:endParaRPr lang="ko-KR" sz="1950" dirty="0">
              <a:ea typeface="Pretendard"/>
            </a:endParaRPr>
          </a:p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시험을 진행합니다.</a:t>
            </a:r>
            <a:endParaRPr lang="ko-KR" sz="195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96300" y="2266950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시험 이후</a:t>
            </a:r>
            <a:endParaRPr lang="ko-KR" sz="2100" dirty="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96300" y="2933700"/>
            <a:ext cx="3143250" cy="0"/>
          </a:xfrm>
          <a:prstGeom prst="line">
            <a:avLst/>
          </a:prstGeom>
          <a:noFill/>
          <a:ln w="19050">
            <a:solidFill>
              <a:srgbClr val="2263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96300" y="323850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6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미응답 기록</a:t>
            </a:r>
            <a:endParaRPr lang="ko-KR" sz="3600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96300" y="4248150"/>
            <a:ext cx="3143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답하지 못한 질문을</a:t>
            </a:r>
            <a:endParaRPr lang="ko-KR" sz="1950" dirty="0">
              <a:ea typeface="Pretendard"/>
            </a:endParaRPr>
          </a:p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분류하고 보완합니다.</a:t>
            </a:r>
            <a:endParaRPr lang="ko-KR" sz="1950" dirty="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12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항목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전, 정확성과 사용 부담을 같은 기준으로 살펴봅니다.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2171700"/>
            <a:ext cx="11125200" cy="723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2950" y="23622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</a:t>
            </a:r>
            <a:endParaRPr lang="ko-KR" sz="187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048000" y="2362200"/>
            <a:ext cx="619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질문에 맞는 문서를 찾았는가</a:t>
            </a:r>
            <a:endParaRPr lang="ko-KR" sz="18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810750" y="2371725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미측정</a:t>
            </a:r>
            <a:endParaRPr lang="ko-KR" sz="1650" dirty="0">
              <a:ea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3400" y="3009900"/>
            <a:ext cx="111252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2950" y="32004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ko-KR" sz="187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048000" y="3200400"/>
            <a:ext cx="619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답변의 근거를 확인할 수 있는가</a:t>
            </a:r>
            <a:endParaRPr lang="ko-KR" sz="180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810750" y="3209925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미측정</a:t>
            </a:r>
            <a:endParaRPr lang="ko-KR" sz="1650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3400" y="3848100"/>
            <a:ext cx="11125200" cy="723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2950" y="40386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응답시간</a:t>
            </a:r>
            <a:endParaRPr lang="ko-KR" sz="1875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048000" y="4038600"/>
            <a:ext cx="619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직원이 기다릴 수 있는 수준인가</a:t>
            </a:r>
            <a:endParaRPr lang="ko-KR" sz="1800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810750" y="4048125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미측정</a:t>
            </a:r>
            <a:endParaRPr lang="ko-KR" sz="1650" dirty="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3400" y="4686300"/>
            <a:ext cx="111252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2950" y="48768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</a:t>
            </a:r>
            <a:endParaRPr lang="ko-KR" sz="1875" dirty="0">
              <a:ea typeface="Pretendard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3048000" y="4876800"/>
            <a:ext cx="619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운영에 필요한 비용은 얼마인가</a:t>
            </a:r>
            <a:endParaRPr lang="ko-KR" sz="1800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810750" y="4886325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미측정</a:t>
            </a:r>
            <a:endParaRPr lang="ko-KR" sz="1650" dirty="0">
              <a:ea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33400" y="5772150"/>
            <a:ext cx="1112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단계입니다. 예산과 성능 수치는 아직 확인하지 않았습니다.</a:t>
            </a:r>
            <a:endParaRPr lang="ko-KR" sz="1575" dirty="0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12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판단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결과와 미확인 항목을 확인한 뒤 적용 범위를 결정합니다.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2209800"/>
            <a:ext cx="4000500" cy="348615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8200" y="2552700"/>
            <a:ext cx="333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4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작은 시험</a:t>
            </a:r>
            <a:endParaRPr lang="ko-KR" sz="2400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38200" y="3267075"/>
            <a:ext cx="333375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문서로 시작하고</a:t>
            </a:r>
            <a:endParaRPr lang="ko-KR" sz="2100" dirty="0">
              <a:ea typeface="Pretendard"/>
            </a:endParaRPr>
          </a:p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답변을</a:t>
            </a:r>
            <a:endParaRPr lang="ko-KR" sz="2100" dirty="0">
              <a:ea typeface="Pretendard"/>
            </a:endParaRPr>
          </a:p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살펴봅니다.</a:t>
            </a:r>
            <a:endParaRPr lang="ko-KR" sz="21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086350" y="2314575"/>
            <a:ext cx="6381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기록 확인</a:t>
            </a:r>
            <a:endParaRPr lang="ko-KR" sz="2250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086350" y="2924175"/>
            <a:ext cx="6381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답하지 못한 질문과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확인이 어려운 답변을 정리합니다.</a:t>
            </a:r>
            <a:endParaRPr lang="ko-KR" sz="1875" dirty="0"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86350" y="4029075"/>
            <a:ext cx="65722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6350" y="4352925"/>
            <a:ext cx="6381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예산 검토</a:t>
            </a:r>
            <a:endParaRPr lang="ko-KR" sz="225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086350" y="4962525"/>
            <a:ext cx="6381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정확성, 응답시간, 비용을 확인한 후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여부를 결정합니다.</a:t>
            </a:r>
            <a:endParaRPr lang="ko-KR" sz="1875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12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구성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입력에서 검수까지의 책임을 나눈 구조 예시입니다.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2305050"/>
            <a:ext cx="2495550" cy="59055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00" y="2438400"/>
            <a:ext cx="211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입력</a:t>
            </a:r>
            <a:endParaRPr lang="ko-KR" sz="187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33400" y="3209925"/>
            <a:ext cx="2495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대화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전달</a:t>
            </a:r>
            <a:endParaRPr lang="ko-KR" sz="1875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3400" y="4829175"/>
            <a:ext cx="24955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86100" y="2600325"/>
            <a:ext cx="25717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9950" y="2305050"/>
            <a:ext cx="2495550" cy="59055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0450" y="2438400"/>
            <a:ext cx="211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검색</a:t>
            </a:r>
            <a:endParaRPr lang="ko-KR" sz="1875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409950" y="3209925"/>
            <a:ext cx="2495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자료와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조회</a:t>
            </a:r>
            <a:endParaRPr lang="ko-KR" sz="1875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09950" y="4829175"/>
            <a:ext cx="24955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62650" y="2600325"/>
            <a:ext cx="25717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86500" y="2305050"/>
            <a:ext cx="2495550" cy="59055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7000" y="2438400"/>
            <a:ext cx="211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생성</a:t>
            </a:r>
            <a:endParaRPr lang="ko-KR" sz="1875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286500" y="3209925"/>
            <a:ext cx="2495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근거를 참고해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작성</a:t>
            </a:r>
            <a:endParaRPr lang="ko-KR" sz="1875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86500" y="4829175"/>
            <a:ext cx="24955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39200" y="2600325"/>
            <a:ext cx="25717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63050" y="2305050"/>
            <a:ext cx="2495550" cy="590550"/>
          </a:xfrm>
          <a:prstGeom prst="rect">
            <a:avLst/>
          </a:prstGeom>
          <a:solidFill>
            <a:srgbClr val="2459A6"/>
          </a:solidFill>
          <a:ln w="12700">
            <a:solidFill>
              <a:srgbClr val="2459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53550" y="2438400"/>
            <a:ext cx="211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검수</a:t>
            </a:r>
            <a:endParaRPr lang="ko-KR" sz="1875" dirty="0"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163050" y="3209925"/>
            <a:ext cx="2495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조건에 맞는지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후 전달</a:t>
            </a:r>
            <a:endParaRPr lang="ko-KR" sz="1875" dirty="0">
              <a:ea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63050" y="4829175"/>
            <a:ext cx="24955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3400" y="5267325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경계</a:t>
            </a:r>
            <a:endParaRPr lang="ko-KR" sz="1575" dirty="0">
              <a:ea typeface="Pretendard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2476500" y="5219700"/>
            <a:ext cx="9144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설명용 예시입니다. 특정 서비스의 구현 결과를 뜻하지 않습니다.</a:t>
            </a:r>
            <a:endParaRPr lang="ko-KR" sz="1800" dirty="0">
              <a:ea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결과의 분기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 경로와 수정 경로를 분리해 읽는 흐름도 예시입니다.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2857500"/>
            <a:ext cx="2381250" cy="9525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050" y="3152775"/>
            <a:ext cx="2000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검수</a:t>
            </a:r>
            <a:endParaRPr lang="ko-KR" sz="2250" dirty="0">
              <a:ea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14650" y="3333750"/>
            <a:ext cx="118110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91000" y="2333625"/>
            <a:ext cx="2857500" cy="161925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57700" y="2619375"/>
            <a:ext cx="238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충족 여부</a:t>
            </a:r>
            <a:endParaRPr lang="ko-KR" sz="2175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457700" y="3219450"/>
            <a:ext cx="2381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수치와 근거 확인</a:t>
            </a:r>
            <a:endParaRPr lang="ko-KR" sz="1725" dirty="0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48500" y="2686050"/>
            <a:ext cx="161925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7429500" y="2276475"/>
            <a:ext cx="1143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</a:t>
            </a:r>
            <a:endParaRPr lang="ko-KR" sz="1575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763000" y="2209800"/>
            <a:ext cx="2895600" cy="952500"/>
          </a:xfrm>
          <a:prstGeom prst="rect">
            <a:avLst/>
          </a:prstGeom>
          <a:solidFill>
            <a:srgbClr val="2459A6"/>
          </a:solidFill>
          <a:ln w="12700">
            <a:solidFill>
              <a:srgbClr val="2459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29700" y="2486025"/>
            <a:ext cx="2400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제공</a:t>
            </a:r>
            <a:endParaRPr lang="ko-KR" sz="2250" dirty="0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048500" y="3638550"/>
            <a:ext cx="1619250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429500" y="3724275"/>
            <a:ext cx="1143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미충족</a:t>
            </a:r>
            <a:endParaRPr lang="ko-KR" sz="1575" dirty="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763000" y="3333750"/>
            <a:ext cx="2895600" cy="9525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29700" y="3609975"/>
            <a:ext cx="2400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수정</a:t>
            </a:r>
            <a:endParaRPr lang="ko-KR" sz="2250" dirty="0">
              <a:ea typeface="Pretendard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191000" y="4886325"/>
            <a:ext cx="74676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후에도 조건을 충족하지 못하면</a:t>
            </a:r>
            <a:endParaRPr lang="ko-KR" sz="2025" dirty="0">
              <a:ea typeface="Pretendard"/>
            </a:endParaRPr>
          </a:p>
          <a:p>
            <a:pPr algn="l" indent="0" marL="0">
              <a:buNone/>
            </a:pPr>
            <a:r>
              <a:rPr lang="ko-KR" sz="202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가능한 사실만 안내합니다.</a:t>
            </a:r>
            <a:endParaRPr lang="ko-KR" sz="2025" dirty="0"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코드와 동작의 연결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코드와 설명을 나란히 두는 발표용 예시입니다.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2247900"/>
            <a:ext cx="6000750" cy="33528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050" y="2476500"/>
            <a:ext cx="5524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검사 예시 · Python</a:t>
            </a:r>
            <a:endParaRPr lang="ko-KR" sz="1500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81050" y="3162300"/>
            <a:ext cx="55245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if validation_errors:</a:t>
            </a:r>
            <a:endParaRPr lang="ko-KR" sz="1950" dirty="0">
              <a:ea typeface="Pretendard"/>
            </a:endParaRPr>
          </a:p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return request_revision()</a:t>
            </a:r>
            <a:endParaRPr lang="ko-KR" sz="1950" dirty="0">
              <a:ea typeface="Pretendard"/>
            </a:endParaRPr>
          </a:p>
          <a:p>
            <a:pPr algn="l" indent="0" marL="0">
              <a:buNone/>
            </a:pPr>
            <a:endParaRPr lang="ko-KR" sz="1950" dirty="0">
              <a:ea typeface="Pretendard"/>
            </a:endParaRPr>
          </a:p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return deliver_answer()</a:t>
            </a:r>
            <a:endParaRPr lang="ko-KR" sz="195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086600" y="240030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오류 확인</a:t>
            </a:r>
            <a:endParaRPr lang="ko-KR" sz="2100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086600" y="2933700"/>
            <a:ext cx="4381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검사에서 발견한 오류가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있는지 확인합니다.</a:t>
            </a:r>
            <a:endParaRPr lang="ko-KR" sz="1875" dirty="0"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086600" y="3933825"/>
            <a:ext cx="45720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86600" y="4257675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다음 경로 선택</a:t>
            </a:r>
            <a:endParaRPr lang="ko-KR" sz="210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086600" y="4791075"/>
            <a:ext cx="4381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오류가 있으면 수정을 요청하고,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없으면 답변을 제공합니다.</a:t>
            </a:r>
            <a:endParaRPr lang="ko-KR" sz="1875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12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theme/clean-notes-notesMaster1.xml.rels-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PPT 레이아웃 12종</dc:title>
  <dc:subject>가상 자료 기반 편집용 템플릿</dc:subject>
  <dc:creator>Clean PPT</dc:creator>
  <cp:lastModifiedBy>Clean PPT</cp:lastModifiedBy>
  <cp:revision>1</cp:revision>
  <dcterms:created xsi:type="dcterms:W3CDTF">2026-10-22T02:34:35Z</dcterms:created>
  <dcterms:modified xsi:type="dcterms:W3CDTF">2026-10-22T02:34:35Z</dcterms:modified>
</cp:coreProperties>
</file>