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입력, 확인 과정, 불확실성 순서로 비교합니다. 예제의 기능은 실제 서비스 구현을 주장하지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왼쪽에서 오른쪽으로 진행한 뒤 하단 분기를 설명합니다. 실제 그래프에 없는 경로를 추가하지 말고 이 구성만 적용하세요.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직접 만든 가상 UI입니다. 실제 발표에서는 검증된 실행 캡처로 교체하고 원본 질문과 수치를 보존합니다. 화면이 좁으면 필요한 부분을 크롭합니다.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2385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 /  구성 예시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09600" y="876300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15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검색 방식의 변화</a:t>
            </a:r>
            <a:endParaRPr lang="ko-KR" sz="315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1524000"/>
            <a:ext cx="1097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기준은 왼쪽에 고정하고, 달라진 동작만 오른쪽에서 확인합니다.</a:t>
            </a:r>
            <a:endParaRPr lang="ko-KR" sz="1650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2038350"/>
            <a:ext cx="10972800" cy="0"/>
          </a:xfrm>
          <a:prstGeom prst="line">
            <a:avLst/>
          </a:prstGeom>
          <a:noFill/>
          <a:ln w="19050">
            <a:solidFill>
              <a:srgbClr val="D6D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640080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서비스의 디자인 예시입니다. 실제 구현·평가 결과가 아닙니다.</a:t>
            </a:r>
            <a:endParaRPr lang="ko-KR" sz="11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200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0" y="2324100"/>
            <a:ext cx="3962400" cy="36957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2438400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기준</a:t>
            </a:r>
            <a:endParaRPr lang="ko-KR" sz="150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276600" y="24003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검색</a:t>
            </a:r>
            <a:endParaRPr lang="ko-KR" sz="2100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0" y="2324100"/>
            <a:ext cx="3962400" cy="609600"/>
          </a:xfrm>
          <a:prstGeom prst="rect">
            <a:avLst/>
          </a:prstGeom>
          <a:solidFill>
            <a:srgbClr val="285DA0"/>
          </a:solidFill>
          <a:ln w="12700">
            <a:solidFill>
              <a:srgbClr val="285D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48600" y="24384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방향</a:t>
            </a:r>
            <a:endParaRPr lang="ko-KR" sz="210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09600" y="3209925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입력</a:t>
            </a:r>
            <a:endParaRPr lang="ko-KR" sz="187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276600" y="3162300"/>
            <a:ext cx="4000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단어</a:t>
            </a:r>
            <a:endParaRPr lang="ko-KR" sz="2025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276600" y="35433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단어가 있는 문서를 찾습니다.</a:t>
            </a:r>
            <a:endParaRPr lang="ko-KR" sz="150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848600" y="3162300"/>
            <a:ext cx="3505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의미</a:t>
            </a:r>
            <a:endParaRPr lang="ko-KR" sz="202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848600" y="35433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표현도 검색에 활용합니다.</a:t>
            </a:r>
            <a:endParaRPr lang="ko-KR" sz="1500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9600" y="3962400"/>
            <a:ext cx="10972800" cy="0"/>
          </a:xfrm>
          <a:prstGeom prst="line">
            <a:avLst/>
          </a:prstGeom>
          <a:noFill/>
          <a:ln w="19050">
            <a:solidFill>
              <a:srgbClr val="D6DF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9600" y="4162425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과정</a:t>
            </a:r>
            <a:endParaRPr lang="ko-KR" sz="1875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276600" y="4114800"/>
            <a:ext cx="4000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문서를 직접 확인</a:t>
            </a:r>
            <a:endParaRPr lang="ko-KR" sz="2025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276600" y="44958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내용을 사용자가 찾습니다.</a:t>
            </a:r>
            <a:endParaRPr lang="ko-KR" sz="1500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848600" y="4114800"/>
            <a:ext cx="3505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구절 함께 확인</a:t>
            </a:r>
            <a:endParaRPr lang="ko-KR" sz="2025" dirty="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848600" y="44958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답변과 원문을 나란히 봅니다.</a:t>
            </a:r>
            <a:endParaRPr lang="ko-KR" sz="1500" dirty="0"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9600" y="4914900"/>
            <a:ext cx="10972800" cy="0"/>
          </a:xfrm>
          <a:prstGeom prst="line">
            <a:avLst/>
          </a:prstGeom>
          <a:noFill/>
          <a:ln w="19050">
            <a:solidFill>
              <a:srgbClr val="D6DF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9600" y="5114925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불확실한 답변</a:t>
            </a:r>
            <a:endParaRPr lang="ko-KR" sz="1875" dirty="0">
              <a:ea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276600" y="5067300"/>
            <a:ext cx="4000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검색어로 재시도</a:t>
            </a:r>
            <a:endParaRPr lang="ko-KR" sz="2025" dirty="0"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276600" y="54483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결과를 다시 좁혀 갑니다.</a:t>
            </a:r>
            <a:endParaRPr lang="ko-KR" sz="1500" dirty="0">
              <a:ea typeface="Pretendard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848600" y="5067300"/>
            <a:ext cx="3505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질문으로 보완</a:t>
            </a:r>
            <a:endParaRPr lang="ko-KR" sz="2025" dirty="0">
              <a:ea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848600" y="54483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부족한 조건부터 확인합니다.</a:t>
            </a:r>
            <a:endParaRPr lang="ko-KR" sz="1500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2385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 /  구성 예시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09600" y="876300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15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질문에서 근거 확인까지</a:t>
            </a:r>
            <a:endParaRPr lang="ko-KR" sz="315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1524000"/>
            <a:ext cx="1097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순서를 먼저 읽고, 답변 검수에서 나뉘는 두 경로를 확인합니다.</a:t>
            </a:r>
            <a:endParaRPr lang="ko-KR" sz="1650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2038350"/>
            <a:ext cx="10972800" cy="0"/>
          </a:xfrm>
          <a:prstGeom prst="line">
            <a:avLst/>
          </a:prstGeom>
          <a:noFill/>
          <a:ln w="19050">
            <a:solidFill>
              <a:srgbClr val="D6D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640080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서비스의 디자인 예시입니다. 실제 구현·평가 결과가 아닙니다.</a:t>
            </a:r>
            <a:endParaRPr lang="ko-KR" sz="11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2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09600" y="24765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800" dirty="0"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971800"/>
            <a:ext cx="2438400" cy="85725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3181350"/>
            <a:ext cx="2057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입력</a:t>
            </a:r>
            <a:endParaRPr lang="ko-KR" sz="217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09600" y="4019550"/>
            <a:ext cx="257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대상과 조건 확인</a:t>
            </a:r>
            <a:endParaRPr lang="ko-KR" sz="1650" dirty="0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24200" y="3400425"/>
            <a:ext cx="209550" cy="0"/>
          </a:xfrm>
          <a:prstGeom prst="line">
            <a:avLst/>
          </a:prstGeom>
          <a:noFill/>
          <a:ln w="19050">
            <a:solidFill>
              <a:srgbClr val="285DA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429000" y="24765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800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29000" y="2971800"/>
            <a:ext cx="2438400" cy="85725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9500" y="3181350"/>
            <a:ext cx="2057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검색</a:t>
            </a:r>
            <a:endParaRPr lang="ko-KR" sz="217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429000" y="4019550"/>
            <a:ext cx="257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구절 조회</a:t>
            </a:r>
            <a:endParaRPr lang="ko-KR" sz="1650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0" y="3400425"/>
            <a:ext cx="209550" cy="0"/>
          </a:xfrm>
          <a:prstGeom prst="line">
            <a:avLst/>
          </a:prstGeom>
          <a:noFill/>
          <a:ln w="19050">
            <a:solidFill>
              <a:srgbClr val="285DA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248400" y="24765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800" dirty="0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48400" y="2971800"/>
            <a:ext cx="2438400" cy="85725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8900" y="3181350"/>
            <a:ext cx="2057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작성</a:t>
            </a:r>
            <a:endParaRPr lang="ko-KR" sz="2175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248400" y="4019550"/>
            <a:ext cx="257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근거로 초안 작성</a:t>
            </a:r>
            <a:endParaRPr lang="ko-KR" sz="1650" dirty="0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763000" y="3400425"/>
            <a:ext cx="209550" cy="0"/>
          </a:xfrm>
          <a:prstGeom prst="line">
            <a:avLst/>
          </a:prstGeom>
          <a:noFill/>
          <a:ln w="19050">
            <a:solidFill>
              <a:srgbClr val="285DA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067800" y="24765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1800" dirty="0"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67800" y="2971800"/>
            <a:ext cx="2438400" cy="857250"/>
          </a:xfrm>
          <a:prstGeom prst="rect">
            <a:avLst/>
          </a:prstGeom>
          <a:solidFill>
            <a:srgbClr val="285DA0"/>
          </a:solidFill>
          <a:ln w="12700">
            <a:solidFill>
              <a:srgbClr val="285D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58300" y="3181350"/>
            <a:ext cx="2057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검수</a:t>
            </a:r>
            <a:endParaRPr lang="ko-KR" sz="2175" dirty="0">
              <a:ea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9067800" y="4019550"/>
            <a:ext cx="2571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조건 확인</a:t>
            </a:r>
            <a:endParaRPr lang="ko-KR" sz="1650" dirty="0">
              <a:ea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287000" y="4457700"/>
            <a:ext cx="0" cy="247650"/>
          </a:xfrm>
          <a:prstGeom prst="line">
            <a:avLst/>
          </a:prstGeom>
          <a:noFill/>
          <a:ln w="19050">
            <a:solidFill>
              <a:srgbClr val="285D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4705350"/>
            <a:ext cx="6800850" cy="0"/>
          </a:xfrm>
          <a:prstGeom prst="line">
            <a:avLst/>
          </a:prstGeom>
          <a:noFill/>
          <a:ln w="19050">
            <a:solidFill>
              <a:srgbClr val="285D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4705350"/>
            <a:ext cx="0" cy="295275"/>
          </a:xfrm>
          <a:prstGeom prst="line">
            <a:avLst/>
          </a:prstGeom>
          <a:noFill/>
          <a:ln w="19050">
            <a:solidFill>
              <a:srgbClr val="285DA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705350"/>
            <a:ext cx="0" cy="295275"/>
          </a:xfrm>
          <a:prstGeom prst="line">
            <a:avLst/>
          </a:prstGeom>
          <a:noFill/>
          <a:ln w="19050">
            <a:solidFill>
              <a:srgbClr val="285DA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09600" y="5143500"/>
            <a:ext cx="6362700" cy="8763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8200" y="5295900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부족</a:t>
            </a:r>
            <a:endParaRPr lang="ko-KR" sz="1800" dirty="0">
              <a:ea typeface="Pretendard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2552700" y="529590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조건을 질문한 뒤 다시 확인</a:t>
            </a:r>
            <a:endParaRPr lang="ko-KR" sz="1650" dirty="0">
              <a:ea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29500" y="5143500"/>
            <a:ext cx="4152900" cy="876300"/>
          </a:xfrm>
          <a:prstGeom prst="rect">
            <a:avLst/>
          </a:prstGeom>
          <a:solidFill>
            <a:srgbClr val="285DA0"/>
          </a:solidFill>
          <a:ln w="12700">
            <a:solidFill>
              <a:srgbClr val="285DA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58100" y="5295900"/>
            <a:ext cx="3695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통과 → 답변과 출처 제공</a:t>
            </a:r>
            <a:endParaRPr lang="ko-KR" sz="1725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2385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 /  구성 예시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09600" y="876300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15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답변과 출처의 연결</a:t>
            </a:r>
            <a:endParaRPr lang="ko-KR" sz="315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1524000"/>
            <a:ext cx="1097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크게 보여 주고, 발표자는 오른쪽 두 지점만 짚습니다.</a:t>
            </a:r>
            <a:endParaRPr lang="ko-KR" sz="1650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2038350"/>
            <a:ext cx="10972800" cy="0"/>
          </a:xfrm>
          <a:prstGeom prst="line">
            <a:avLst/>
          </a:prstGeom>
          <a:noFill/>
          <a:ln w="19050">
            <a:solidFill>
              <a:srgbClr val="D6D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640080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86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서비스의 디자인 예시입니다. 실제 구현·평가 결과가 아닙니다.</a:t>
            </a:r>
            <a:endParaRPr lang="ko-KR" sz="11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200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2362200"/>
            <a:ext cx="7277100" cy="371475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514600"/>
            <a:ext cx="6972300" cy="419100"/>
          </a:xfrm>
          <a:prstGeom prst="rect">
            <a:avLst/>
          </a:prstGeom>
          <a:solidFill>
            <a:srgbClr val="182B43"/>
          </a:solidFill>
          <a:ln w="12700">
            <a:solidFill>
              <a:srgbClr val="182B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2500" y="2590800"/>
            <a:ext cx="647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 예시  /  문서 검색</a:t>
            </a:r>
            <a:endParaRPr lang="ko-KR" sz="1275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2500" y="3143250"/>
            <a:ext cx="65913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295650"/>
            <a:ext cx="619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출장비를 신청하려면 무엇이 필요한가요?</a:t>
            </a:r>
            <a:endParaRPr lang="ko-KR" sz="1800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52500" y="3943350"/>
            <a:ext cx="65913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095750"/>
            <a:ext cx="590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초안</a:t>
            </a:r>
            <a:endParaRPr lang="ko-KR" sz="1500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43000" y="4495800"/>
            <a:ext cx="6096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신청서와 지출 증빙을 준비합니다.</a:t>
            </a:r>
            <a:endParaRPr lang="ko-KR" sz="1800" dirty="0">
              <a:ea typeface="Pretendard"/>
            </a:endParaRPr>
          </a:p>
          <a:p>
            <a:pPr algn="l" indent="0" marL="0">
              <a:buNone/>
            </a:pPr>
            <a:r>
              <a:rPr lang="ko-KR" sz="1800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 조건은 연결된 안내문에서 확인합니다.</a:t>
            </a:r>
            <a:endParaRPr lang="ko-KR" sz="1800" dirty="0">
              <a:ea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43000" y="5238750"/>
            <a:ext cx="6191250" cy="0"/>
          </a:xfrm>
          <a:prstGeom prst="line">
            <a:avLst/>
          </a:prstGeom>
          <a:noFill/>
          <a:ln w="19050">
            <a:solidFill>
              <a:srgbClr val="D6DF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5410200"/>
            <a:ext cx="6096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 문서  :  출장비 신청 안내</a:t>
            </a:r>
            <a:endParaRPr lang="ko-KR" sz="1500" dirty="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05800" y="25908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답변 핵심</a:t>
            </a:r>
            <a:endParaRPr lang="ko-KR" sz="1800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305800" y="3048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해야 할 일을 먼저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읽을 수 있도록 정리</a:t>
            </a:r>
            <a:endParaRPr lang="ko-KR" sz="2100" dirty="0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305800" y="4210050"/>
            <a:ext cx="3276600" cy="0"/>
          </a:xfrm>
          <a:prstGeom prst="line">
            <a:avLst/>
          </a:prstGeom>
          <a:noFill/>
          <a:ln w="19050">
            <a:solidFill>
              <a:srgbClr val="D6DF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5800" y="44767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85D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원문 확인</a:t>
            </a:r>
            <a:endParaRPr lang="ko-KR" sz="1800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305800" y="49339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이름을 누르면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b="1" dirty="0">
                <a:solidFill>
                  <a:srgbClr val="182B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조건을 확인</a:t>
            </a:r>
            <a:endParaRPr lang="ko-KR" sz="2100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본문 중심 비즈니스 시안</dc:title>
  <dc:subject/>
  <dc:creator>Clean PPT</dc:creator>
  <cp:lastModifiedBy>Clean PPT</cp:lastModifiedBy>
  <cp:revision>1</cp:revision>
  <dcterms:created xsi:type="dcterms:W3CDTF">2026-10-22T04:01:58Z</dcterms:created>
  <dcterms:modified xsi:type="dcterms:W3CDTF">2026-10-22T04:01:58Z</dcterms:modified>
</cp:coreProperties>
</file>